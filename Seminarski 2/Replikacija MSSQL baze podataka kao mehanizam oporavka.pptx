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3" r:id="rId8"/>
    <p:sldId id="264" r:id="rId9"/>
    <p:sldId id="261" r:id="rId10"/>
    <p:sldId id="266" r:id="rId11"/>
    <p:sldId id="265" r:id="rId12"/>
    <p:sldId id="268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Replikacija</a:t>
            </a:r>
            <a:r>
              <a:rPr lang="en-US" dirty="0" smtClean="0"/>
              <a:t> MSSQL </a:t>
            </a:r>
            <a:r>
              <a:rPr lang="en-US" dirty="0" err="1" smtClean="0"/>
              <a:t>baze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r>
              <a:rPr lang="en-US" dirty="0" smtClean="0"/>
              <a:t> </a:t>
            </a:r>
            <a:r>
              <a:rPr lang="en-US" dirty="0" err="1" smtClean="0"/>
              <a:t>kao</a:t>
            </a:r>
            <a:r>
              <a:rPr lang="en-US" dirty="0" smtClean="0"/>
              <a:t> </a:t>
            </a:r>
            <a:r>
              <a:rPr lang="en-US" dirty="0" err="1" smtClean="0"/>
              <a:t>mehanizam</a:t>
            </a:r>
            <a:r>
              <a:rPr lang="en-US" dirty="0" smtClean="0"/>
              <a:t> </a:t>
            </a:r>
            <a:r>
              <a:rPr lang="en-US" dirty="0" err="1" smtClean="0"/>
              <a:t>oporavka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Lucija</a:t>
            </a:r>
            <a:r>
              <a:rPr lang="en-US" dirty="0" smtClean="0"/>
              <a:t> </a:t>
            </a:r>
            <a:r>
              <a:rPr lang="en-US" dirty="0" err="1" smtClean="0"/>
              <a:t>Stojkovi</a:t>
            </a:r>
            <a:r>
              <a:rPr lang="sr-Latn-RS" dirty="0" smtClean="0"/>
              <a:t>ć, br. ind. 1903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83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Sadržaj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2400" dirty="0" smtClean="0"/>
              <a:t>Uvod</a:t>
            </a:r>
          </a:p>
          <a:p>
            <a:r>
              <a:rPr lang="sr-Latn-RS" sz="2400" dirty="0" smtClean="0"/>
              <a:t>Replikacija i oporavak baza podataka u MS SQL okruženju</a:t>
            </a:r>
          </a:p>
          <a:p>
            <a:r>
              <a:rPr lang="sr-Latn-RS" sz="2400" dirty="0" smtClean="0"/>
              <a:t>Kriterijumi evaluacije i postojeća rešenja</a:t>
            </a:r>
          </a:p>
          <a:p>
            <a:r>
              <a:rPr lang="sr-Latn-RS" sz="2400" dirty="0" smtClean="0"/>
              <a:t>Implementacija replikacije u MS SQL-u</a:t>
            </a:r>
          </a:p>
          <a:p>
            <a:r>
              <a:rPr lang="sr-Latn-RS" sz="2400" dirty="0" smtClean="0"/>
              <a:t>Metodolgija evaluacije i scenario testiranja</a:t>
            </a:r>
          </a:p>
          <a:p>
            <a:r>
              <a:rPr lang="sr-Latn-RS" sz="2400" dirty="0" smtClean="0"/>
              <a:t>Prednosti i ograničenja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316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Šta je replikacija?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6423"/>
            <a:ext cx="8596668" cy="4294940"/>
          </a:xfrm>
        </p:spPr>
        <p:txBody>
          <a:bodyPr/>
          <a:lstStyle/>
          <a:p>
            <a:r>
              <a:rPr lang="sr-Latn-RS" dirty="0">
                <a:solidFill>
                  <a:schemeClr val="accent1"/>
                </a:solidFill>
              </a:rPr>
              <a:t>Replikacija</a:t>
            </a:r>
            <a:r>
              <a:rPr lang="sr-Latn-RS" dirty="0"/>
              <a:t> baze podataka podrazumeva proces kopiranja i održavanja podataka i objekata baze na failover instanci servera, čime se omogućava da podaci </a:t>
            </a:r>
            <a:r>
              <a:rPr lang="sr-Latn-RS" dirty="0" smtClean="0"/>
              <a:t>ostanu </a:t>
            </a:r>
            <a:r>
              <a:rPr lang="sr-Latn-RS" dirty="0"/>
              <a:t>konzistentni i dostupni čak i u slučaju kvara primarnog </a:t>
            </a:r>
            <a:r>
              <a:rPr lang="sr-Latn-RS" dirty="0" smtClean="0"/>
              <a:t>sistema</a:t>
            </a:r>
          </a:p>
          <a:p>
            <a:r>
              <a:rPr lang="sr-Latn-RS" dirty="0" smtClean="0"/>
              <a:t>Pruža </a:t>
            </a:r>
            <a:r>
              <a:rPr lang="sr-Latn-RS" dirty="0"/>
              <a:t>gotovo trenutno preusmeravanje korisničkih zahteva na sekundarne kopije </a:t>
            </a:r>
            <a:r>
              <a:rPr lang="sr-Latn-RS" dirty="0" smtClean="0"/>
              <a:t>baze</a:t>
            </a:r>
          </a:p>
          <a:p>
            <a:r>
              <a:rPr lang="sr-Latn-RS" dirty="0" smtClean="0"/>
              <a:t>Značajno </a:t>
            </a:r>
            <a:r>
              <a:rPr lang="sr-Latn-RS" dirty="0"/>
              <a:t>smanjuje vreme nedostupnosti i rizik od gubitka podataka </a:t>
            </a:r>
            <a:endParaRPr lang="sr-Latn-RS" dirty="0" smtClean="0"/>
          </a:p>
          <a:p>
            <a:r>
              <a:rPr lang="sr-Latn-RS" dirty="0"/>
              <a:t>Ovakav pristup je naročito važan u okruženjima sa velikim brojem transakcija u realnom vremenu, kao što su finansijske institucije, e-trgovina ili zdravstveni informacioni sistemi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8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Replikacije u MS SQL-u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7611"/>
            <a:ext cx="8596668" cy="4336130"/>
          </a:xfrm>
        </p:spPr>
        <p:txBody>
          <a:bodyPr/>
          <a:lstStyle/>
          <a:p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od </a:t>
            </a:r>
            <a:r>
              <a:rPr lang="en-US" dirty="0" err="1"/>
              <a:t>ključnih</a:t>
            </a:r>
            <a:r>
              <a:rPr lang="en-US" dirty="0"/>
              <a:t> </a:t>
            </a:r>
            <a:r>
              <a:rPr lang="en-US" dirty="0" err="1"/>
              <a:t>mehanizama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distribuciju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sinhronizaciju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endParaRPr lang="sr-Latn-RS" dirty="0" smtClean="0"/>
          </a:p>
          <a:p>
            <a:r>
              <a:rPr lang="sr-Latn-RS" dirty="0" smtClean="0"/>
              <a:t>A</a:t>
            </a:r>
            <a:r>
              <a:rPr lang="en-US" dirty="0" err="1" smtClean="0"/>
              <a:t>rhitektura</a:t>
            </a:r>
            <a:r>
              <a:rPr lang="en-US" dirty="0" smtClean="0"/>
              <a:t> </a:t>
            </a:r>
            <a:r>
              <a:rPr lang="en-US" dirty="0" err="1"/>
              <a:t>replikacije</a:t>
            </a:r>
            <a:r>
              <a:rPr lang="en-US" dirty="0"/>
              <a:t> u MSSQL-u </a:t>
            </a:r>
            <a:r>
              <a:rPr lang="en-US" dirty="0" err="1"/>
              <a:t>zasniva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jasno</a:t>
            </a:r>
            <a:r>
              <a:rPr lang="en-US" dirty="0"/>
              <a:t> </a:t>
            </a:r>
            <a:r>
              <a:rPr lang="en-US" dirty="0" err="1"/>
              <a:t>definisanim</a:t>
            </a:r>
            <a:r>
              <a:rPr lang="en-US" dirty="0"/>
              <a:t> </a:t>
            </a:r>
            <a:r>
              <a:rPr lang="en-US" dirty="0" err="1" smtClean="0"/>
              <a:t>ulogama</a:t>
            </a:r>
            <a:endParaRPr lang="sr-Latn-RS" dirty="0" smtClean="0"/>
          </a:p>
          <a:p>
            <a:r>
              <a:rPr lang="en-US" dirty="0">
                <a:solidFill>
                  <a:schemeClr val="accent1"/>
                </a:solidFill>
              </a:rPr>
              <a:t>Publisher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izvor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objekata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se </a:t>
            </a:r>
            <a:r>
              <a:rPr lang="en-US" dirty="0" err="1" smtClean="0"/>
              <a:t>repliciraju</a:t>
            </a:r>
            <a:endParaRPr lang="sr-Latn-RS" dirty="0" smtClean="0"/>
          </a:p>
          <a:p>
            <a:r>
              <a:rPr lang="sr-Latn-RS" dirty="0" smtClean="0">
                <a:solidFill>
                  <a:schemeClr val="accent1"/>
                </a:solidFill>
              </a:rPr>
              <a:t>D</a:t>
            </a:r>
            <a:r>
              <a:rPr lang="en-US" dirty="0" err="1" smtClean="0">
                <a:solidFill>
                  <a:schemeClr val="accent1"/>
                </a:solidFill>
              </a:rPr>
              <a:t>istributor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zadatak</a:t>
            </a:r>
            <a:r>
              <a:rPr lang="en-US" dirty="0"/>
              <a:t> da </a:t>
            </a:r>
            <a:r>
              <a:rPr lang="en-US" dirty="0" err="1"/>
              <a:t>skladišti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 o </a:t>
            </a:r>
            <a:r>
              <a:rPr lang="en-US" dirty="0" err="1"/>
              <a:t>promenama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prosleđuje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odgovarajućim</a:t>
            </a:r>
            <a:r>
              <a:rPr lang="en-US" dirty="0"/>
              <a:t> subscriber </a:t>
            </a:r>
            <a:r>
              <a:rPr lang="en-US" dirty="0" err="1"/>
              <a:t>bazama</a:t>
            </a:r>
            <a:endParaRPr lang="sr-Latn-RS" dirty="0" smtClean="0"/>
          </a:p>
          <a:p>
            <a:r>
              <a:rPr lang="en-US" dirty="0">
                <a:solidFill>
                  <a:schemeClr val="accent1"/>
                </a:solidFill>
              </a:rPr>
              <a:t>Subscriber</a:t>
            </a:r>
            <a:r>
              <a:rPr lang="en-US" dirty="0"/>
              <a:t> je </a:t>
            </a:r>
            <a:r>
              <a:rPr lang="en-US" dirty="0" err="1"/>
              <a:t>krajnja</a:t>
            </a:r>
            <a:r>
              <a:rPr lang="en-US" dirty="0"/>
              <a:t> </a:t>
            </a:r>
            <a:r>
              <a:rPr lang="en-US" dirty="0" err="1"/>
              <a:t>destinacija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kojoj</a:t>
            </a:r>
            <a:r>
              <a:rPr lang="en-US" dirty="0"/>
              <a:t> se </a:t>
            </a:r>
            <a:r>
              <a:rPr lang="en-US" dirty="0" err="1"/>
              <a:t>primenjuju</a:t>
            </a:r>
            <a:r>
              <a:rPr lang="en-US" dirty="0"/>
              <a:t> </a:t>
            </a:r>
            <a:r>
              <a:rPr lang="en-US" dirty="0" err="1"/>
              <a:t>replicirane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obezbeđuju</a:t>
            </a:r>
            <a:r>
              <a:rPr lang="en-US" dirty="0"/>
              <a:t> </a:t>
            </a:r>
            <a:r>
              <a:rPr lang="en-US" dirty="0" err="1"/>
              <a:t>ažurnost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dostupnost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lokacija</a:t>
            </a:r>
            <a:endParaRPr lang="sr-Latn-RS" dirty="0" smtClean="0"/>
          </a:p>
          <a:p>
            <a:r>
              <a:rPr lang="en-US" dirty="0"/>
              <a:t>Microsoft SQL Server </a:t>
            </a:r>
            <a:r>
              <a:rPr lang="en-US" dirty="0" err="1"/>
              <a:t>podržava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četiri</a:t>
            </a:r>
            <a:r>
              <a:rPr lang="en-US" dirty="0"/>
              <a:t> </a:t>
            </a:r>
            <a:r>
              <a:rPr lang="en-US" dirty="0" err="1"/>
              <a:t>osnovna</a:t>
            </a:r>
            <a:r>
              <a:rPr lang="en-US" dirty="0"/>
              <a:t> </a:t>
            </a:r>
            <a:r>
              <a:rPr lang="en-US" dirty="0" err="1"/>
              <a:t>modela</a:t>
            </a:r>
            <a:r>
              <a:rPr lang="en-US" dirty="0"/>
              <a:t> </a:t>
            </a:r>
            <a:r>
              <a:rPr lang="en-US" dirty="0" err="1"/>
              <a:t>replikacije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114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4390769" cy="1278466"/>
          </a:xfrm>
        </p:spPr>
        <p:txBody>
          <a:bodyPr>
            <a:noAutofit/>
          </a:bodyPr>
          <a:lstStyle/>
          <a:p>
            <a:r>
              <a:rPr lang="en-US" sz="3600" dirty="0"/>
              <a:t>Snapshot </a:t>
            </a:r>
            <a:r>
              <a:rPr lang="en-US" sz="3600" dirty="0" err="1"/>
              <a:t>replikacija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Snapshot </a:t>
            </a:r>
            <a:r>
              <a:rPr lang="en-US" dirty="0" err="1">
                <a:solidFill>
                  <a:schemeClr val="accent1"/>
                </a:solidFill>
              </a:rPr>
              <a:t>replikacija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se </a:t>
            </a:r>
            <a:r>
              <a:rPr lang="en-US" dirty="0" err="1"/>
              <a:t>zasniva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periodičnom</a:t>
            </a:r>
            <a:r>
              <a:rPr lang="en-US" dirty="0"/>
              <a:t> </a:t>
            </a:r>
            <a:r>
              <a:rPr lang="en-US" dirty="0" err="1"/>
              <a:t>kreiranju</a:t>
            </a:r>
            <a:r>
              <a:rPr lang="en-US" dirty="0"/>
              <a:t> </a:t>
            </a:r>
            <a:r>
              <a:rPr lang="en-US" dirty="0" err="1"/>
              <a:t>kompletnog</a:t>
            </a:r>
            <a:r>
              <a:rPr lang="en-US" dirty="0"/>
              <a:t> „</a:t>
            </a:r>
            <a:r>
              <a:rPr lang="en-US" dirty="0" err="1"/>
              <a:t>snimka</a:t>
            </a:r>
            <a:r>
              <a:rPr lang="en-US" dirty="0"/>
              <a:t>“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unapred</a:t>
            </a:r>
            <a:r>
              <a:rPr lang="en-US" dirty="0"/>
              <a:t> </a:t>
            </a:r>
            <a:r>
              <a:rPr lang="en-US" dirty="0" err="1"/>
              <a:t>definisanog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</a:t>
            </a:r>
            <a:r>
              <a:rPr lang="en-US" dirty="0" err="1"/>
              <a:t>objekata</a:t>
            </a:r>
            <a:r>
              <a:rPr lang="en-US" dirty="0"/>
              <a:t> , </a:t>
            </a:r>
            <a:r>
              <a:rPr lang="en-US" dirty="0" err="1"/>
              <a:t>koji</a:t>
            </a:r>
            <a:r>
              <a:rPr lang="en-US" dirty="0"/>
              <a:t> se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distribuira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subscriber </a:t>
            </a:r>
            <a:r>
              <a:rPr lang="en-US" dirty="0" smtClean="0"/>
              <a:t>server</a:t>
            </a:r>
            <a:r>
              <a:rPr lang="sr-Latn-RS" dirty="0" smtClean="0"/>
              <a:t>a</a:t>
            </a:r>
          </a:p>
          <a:p>
            <a:r>
              <a:rPr lang="sr-Latn-RS" dirty="0" smtClean="0"/>
              <a:t>N</a:t>
            </a:r>
            <a:r>
              <a:rPr lang="en-US" dirty="0" smtClean="0"/>
              <a:t>e </a:t>
            </a:r>
            <a:r>
              <a:rPr lang="en-US" dirty="0" err="1"/>
              <a:t>prati</a:t>
            </a:r>
            <a:r>
              <a:rPr lang="en-US" dirty="0"/>
              <a:t> </a:t>
            </a:r>
            <a:r>
              <a:rPr lang="en-US" dirty="0" err="1"/>
              <a:t>pojedinačne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u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/>
              <a:t>vremenu</a:t>
            </a:r>
            <a:r>
              <a:rPr lang="en-US" dirty="0"/>
              <a:t>, </a:t>
            </a:r>
            <a:r>
              <a:rPr lang="en-US" dirty="0" err="1"/>
              <a:t>već</a:t>
            </a:r>
            <a:r>
              <a:rPr lang="en-US" dirty="0"/>
              <a:t> u </a:t>
            </a:r>
            <a:r>
              <a:rPr lang="en-US" dirty="0" err="1"/>
              <a:t>tačno</a:t>
            </a:r>
            <a:r>
              <a:rPr lang="en-US" dirty="0"/>
              <a:t> </a:t>
            </a:r>
            <a:r>
              <a:rPr lang="en-US" dirty="0" err="1"/>
              <a:t>definisanim</a:t>
            </a:r>
            <a:r>
              <a:rPr lang="en-US" dirty="0"/>
              <a:t> </a:t>
            </a:r>
            <a:r>
              <a:rPr lang="en-US" dirty="0" err="1"/>
              <a:t>vremenskim</a:t>
            </a:r>
            <a:r>
              <a:rPr lang="en-US" dirty="0"/>
              <a:t> </a:t>
            </a:r>
            <a:r>
              <a:rPr lang="en-US" dirty="0" err="1"/>
              <a:t>intervalima</a:t>
            </a:r>
            <a:r>
              <a:rPr lang="en-US" dirty="0"/>
              <a:t> </a:t>
            </a:r>
            <a:r>
              <a:rPr lang="en-US" dirty="0" err="1"/>
              <a:t>generiše</a:t>
            </a:r>
            <a:r>
              <a:rPr lang="en-US" dirty="0"/>
              <a:t> </a:t>
            </a:r>
            <a:r>
              <a:rPr lang="en-US" dirty="0" err="1"/>
              <a:t>novu</a:t>
            </a:r>
            <a:r>
              <a:rPr lang="en-US" dirty="0"/>
              <a:t> </a:t>
            </a:r>
            <a:r>
              <a:rPr lang="en-US" dirty="0" err="1"/>
              <a:t>kopiju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u </a:t>
            </a:r>
            <a:r>
              <a:rPr lang="en-US" dirty="0" err="1"/>
              <a:t>celosti</a:t>
            </a:r>
            <a:r>
              <a:rPr lang="en-US" dirty="0"/>
              <a:t> je </a:t>
            </a:r>
            <a:r>
              <a:rPr lang="en-US" dirty="0" err="1"/>
              <a:t>prenosi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udaljene</a:t>
            </a:r>
            <a:r>
              <a:rPr lang="en-US" dirty="0"/>
              <a:t> </a:t>
            </a:r>
            <a:r>
              <a:rPr lang="en-US" dirty="0" err="1" smtClean="0"/>
              <a:t>lokacije</a:t>
            </a:r>
            <a:endParaRPr lang="sr-Latn-RS" dirty="0" smtClean="0"/>
          </a:p>
          <a:p>
            <a:r>
              <a:rPr lang="sr-Latn-RS" dirty="0" smtClean="0"/>
              <a:t>P</a:t>
            </a:r>
            <a:r>
              <a:rPr lang="en-US" dirty="0" err="1" smtClean="0"/>
              <a:t>osebno</a:t>
            </a:r>
            <a:r>
              <a:rPr lang="en-US" dirty="0" smtClean="0"/>
              <a:t> </a:t>
            </a:r>
            <a:r>
              <a:rPr lang="sr-Latn-RS" dirty="0" smtClean="0"/>
              <a:t>je </a:t>
            </a:r>
            <a:r>
              <a:rPr lang="en-US" dirty="0" err="1" smtClean="0"/>
              <a:t>pogodna</a:t>
            </a:r>
            <a:r>
              <a:rPr lang="en-US" dirty="0" smtClean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se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retko</a:t>
            </a:r>
            <a:r>
              <a:rPr lang="en-US" dirty="0"/>
              <a:t> </a:t>
            </a:r>
            <a:r>
              <a:rPr lang="en-US" dirty="0" err="1"/>
              <a:t>menjaju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je </a:t>
            </a:r>
            <a:r>
              <a:rPr lang="en-US" dirty="0" err="1"/>
              <a:t>prihvatljivo</a:t>
            </a:r>
            <a:r>
              <a:rPr lang="en-US" dirty="0"/>
              <a:t> da </a:t>
            </a:r>
            <a:r>
              <a:rPr lang="en-US" dirty="0" err="1"/>
              <a:t>podaci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subscriber </a:t>
            </a:r>
            <a:r>
              <a:rPr lang="en-US" dirty="0" err="1"/>
              <a:t>strani</a:t>
            </a:r>
            <a:r>
              <a:rPr lang="en-US" dirty="0"/>
              <a:t> </a:t>
            </a:r>
            <a:r>
              <a:rPr lang="en-US" dirty="0" err="1"/>
              <a:t>povremeno</a:t>
            </a:r>
            <a:r>
              <a:rPr lang="en-US" dirty="0"/>
              <a:t>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 smtClean="0"/>
              <a:t>zastareli</a:t>
            </a:r>
            <a:endParaRPr lang="sr-Latn-RS" dirty="0" smtClean="0"/>
          </a:p>
          <a:p>
            <a:r>
              <a:rPr lang="sr-Latn-RS" dirty="0" smtClean="0"/>
              <a:t>Prenos kompletnih baza izaziva veliko opterećenje mreže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1320" y="1447154"/>
            <a:ext cx="4029448" cy="326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37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29" y="321275"/>
            <a:ext cx="4028303" cy="127846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Transactional </a:t>
            </a:r>
            <a:r>
              <a:rPr lang="en-US" sz="4000" dirty="0" err="1"/>
              <a:t>replikacija</a:t>
            </a:r>
            <a:r>
              <a:rPr lang="en-US" i="1" dirty="0"/>
              <a:t/>
            </a:r>
            <a:br>
              <a:rPr lang="en-US" i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1957" y="514924"/>
            <a:ext cx="4842045" cy="5526437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Transactional </a:t>
            </a:r>
            <a:r>
              <a:rPr lang="en-US" dirty="0" err="1">
                <a:solidFill>
                  <a:schemeClr val="accent1"/>
                </a:solidFill>
              </a:rPr>
              <a:t>replikacija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skoro</a:t>
            </a:r>
            <a:r>
              <a:rPr lang="en-US" dirty="0"/>
              <a:t> real-time </a:t>
            </a:r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promena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publisher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subscriber </a:t>
            </a:r>
            <a:r>
              <a:rPr lang="en-US" dirty="0" err="1"/>
              <a:t>baza</a:t>
            </a:r>
            <a:r>
              <a:rPr lang="sr-Latn-RS" dirty="0"/>
              <a:t>.</a:t>
            </a:r>
          </a:p>
          <a:p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izvršena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u </a:t>
            </a:r>
            <a:r>
              <a:rPr lang="en-US" dirty="0" err="1"/>
              <a:t>primarnoj</a:t>
            </a:r>
            <a:r>
              <a:rPr lang="en-US" dirty="0"/>
              <a:t> </a:t>
            </a:r>
            <a:r>
              <a:rPr lang="en-US" dirty="0" err="1"/>
              <a:t>bazi</a:t>
            </a:r>
            <a:r>
              <a:rPr lang="en-US" dirty="0"/>
              <a:t> </a:t>
            </a:r>
            <a:r>
              <a:rPr lang="en-US" dirty="0" err="1"/>
              <a:t>beleži</a:t>
            </a:r>
            <a:r>
              <a:rPr lang="en-US" dirty="0"/>
              <a:t> se u </a:t>
            </a:r>
            <a:r>
              <a:rPr lang="en-US" dirty="0" err="1"/>
              <a:t>transakcionom</a:t>
            </a:r>
            <a:r>
              <a:rPr lang="en-US" dirty="0"/>
              <a:t> </a:t>
            </a:r>
            <a:r>
              <a:rPr lang="en-US" dirty="0" err="1"/>
              <a:t>logu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prosleđuje</a:t>
            </a:r>
            <a:r>
              <a:rPr lang="en-US" dirty="0"/>
              <a:t> </a:t>
            </a:r>
            <a:r>
              <a:rPr lang="en-US" dirty="0" err="1"/>
              <a:t>distributeru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isporučuje</a:t>
            </a:r>
            <a:r>
              <a:rPr lang="en-US" dirty="0"/>
              <a:t> </a:t>
            </a:r>
            <a:r>
              <a:rPr lang="en-US" dirty="0" err="1" smtClean="0"/>
              <a:t>subscriberima</a:t>
            </a:r>
            <a:r>
              <a:rPr lang="en-US" dirty="0" smtClean="0"/>
              <a:t> </a:t>
            </a:r>
            <a:r>
              <a:rPr lang="en-US" dirty="0"/>
              <a:t>u </a:t>
            </a:r>
            <a:r>
              <a:rPr lang="en-US" dirty="0" err="1"/>
              <a:t>istom</a:t>
            </a:r>
            <a:r>
              <a:rPr lang="en-US" dirty="0"/>
              <a:t> </a:t>
            </a:r>
            <a:r>
              <a:rPr lang="en-US" dirty="0" err="1"/>
              <a:t>redosledu</a:t>
            </a:r>
            <a:r>
              <a:rPr lang="en-US" dirty="0"/>
              <a:t> u </a:t>
            </a:r>
            <a:r>
              <a:rPr lang="en-US" dirty="0" err="1"/>
              <a:t>kojem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nastale</a:t>
            </a:r>
            <a:r>
              <a:rPr lang="en-US" dirty="0"/>
              <a:t> </a:t>
            </a:r>
            <a:endParaRPr lang="sr-Latn-RS" dirty="0"/>
          </a:p>
          <a:p>
            <a:r>
              <a:rPr lang="sr-Latn-RS" dirty="0"/>
              <a:t>V</a:t>
            </a:r>
            <a:r>
              <a:rPr lang="en-US" dirty="0" err="1"/>
              <a:t>isok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sr-Latn-RS" dirty="0"/>
              <a:t> i minimalno kašnjenje u prenosu podataka</a:t>
            </a:r>
          </a:p>
          <a:p>
            <a:r>
              <a:rPr lang="sr-Latn-RS" dirty="0" smtClean="0"/>
              <a:t>N</a:t>
            </a:r>
            <a:r>
              <a:rPr lang="en-US" dirty="0" err="1" smtClean="0"/>
              <a:t>ajčešće</a:t>
            </a:r>
            <a:r>
              <a:rPr lang="en-US" dirty="0" smtClean="0"/>
              <a:t> </a:t>
            </a:r>
            <a:r>
              <a:rPr lang="en-US" dirty="0" err="1"/>
              <a:t>koristi</a:t>
            </a:r>
            <a:r>
              <a:rPr lang="en-US" dirty="0"/>
              <a:t> u </a:t>
            </a:r>
            <a:r>
              <a:rPr lang="en-US" dirty="0" err="1"/>
              <a:t>sistemima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velikim</a:t>
            </a:r>
            <a:r>
              <a:rPr lang="en-US" dirty="0"/>
              <a:t> </a:t>
            </a:r>
            <a:r>
              <a:rPr lang="en-US" dirty="0" err="1"/>
              <a:t>brojem</a:t>
            </a:r>
            <a:r>
              <a:rPr lang="en-US" dirty="0"/>
              <a:t> </a:t>
            </a:r>
            <a:r>
              <a:rPr lang="en-US" dirty="0" err="1"/>
              <a:t>transakcija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strogo</a:t>
            </a:r>
            <a:r>
              <a:rPr lang="en-US" dirty="0"/>
              <a:t> </a:t>
            </a:r>
            <a:r>
              <a:rPr lang="en-US" dirty="0" err="1"/>
              <a:t>definisanim</a:t>
            </a:r>
            <a:r>
              <a:rPr lang="en-US" dirty="0"/>
              <a:t> </a:t>
            </a:r>
            <a:r>
              <a:rPr lang="en-US" dirty="0" err="1"/>
              <a:t>zahtevima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tačnost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endParaRPr lang="sr-Latn-RS" dirty="0" smtClean="0"/>
          </a:p>
          <a:p>
            <a:r>
              <a:rPr lang="sr-Latn-RS" dirty="0" smtClean="0"/>
              <a:t>Jednosmerna komunikacija, promene se vrše isključivo na publisher strani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321275" y="1599741"/>
            <a:ext cx="3904736" cy="319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7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3611"/>
            <a:ext cx="3854528" cy="127846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Peer-to-Peer </a:t>
            </a:r>
            <a:r>
              <a:rPr lang="en-US" sz="4000" dirty="0" err="1"/>
              <a:t>replikacija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427" y="514924"/>
            <a:ext cx="4942703" cy="5526437"/>
          </a:xfrm>
        </p:spPr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Peer-to-peer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specijalizovanu</a:t>
            </a:r>
            <a:r>
              <a:rPr lang="en-US" dirty="0"/>
              <a:t> </a:t>
            </a:r>
            <a:r>
              <a:rPr lang="en-US" dirty="0" err="1"/>
              <a:t>varijantu</a:t>
            </a:r>
            <a:r>
              <a:rPr lang="en-US" dirty="0"/>
              <a:t> transactional </a:t>
            </a:r>
            <a:r>
              <a:rPr lang="en-US" dirty="0" err="1"/>
              <a:t>replikacije</a:t>
            </a:r>
            <a:r>
              <a:rPr lang="en-US" dirty="0"/>
              <a:t> </a:t>
            </a:r>
            <a:r>
              <a:rPr lang="en-US" dirty="0" err="1"/>
              <a:t>dizajniranu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scenarije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serverskih</a:t>
            </a:r>
            <a:r>
              <a:rPr lang="en-US" dirty="0"/>
              <a:t> </a:t>
            </a:r>
            <a:r>
              <a:rPr lang="en-US" dirty="0" err="1"/>
              <a:t>čvorova</a:t>
            </a:r>
            <a:r>
              <a:rPr lang="en-US" dirty="0"/>
              <a:t> </a:t>
            </a:r>
            <a:r>
              <a:rPr lang="en-US" dirty="0" err="1"/>
              <a:t>ravnopravno</a:t>
            </a:r>
            <a:r>
              <a:rPr lang="en-US" dirty="0"/>
              <a:t> </a:t>
            </a:r>
            <a:r>
              <a:rPr lang="en-US" dirty="0" err="1"/>
              <a:t>učestvuje</a:t>
            </a:r>
            <a:r>
              <a:rPr lang="en-US" dirty="0"/>
              <a:t> u </a:t>
            </a:r>
            <a:r>
              <a:rPr lang="en-US" dirty="0" err="1"/>
              <a:t>obradi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O</a:t>
            </a:r>
            <a:r>
              <a:rPr lang="en-US" dirty="0" err="1" smtClean="0"/>
              <a:t>mogućava</a:t>
            </a:r>
            <a:r>
              <a:rPr lang="en-US" dirty="0" smtClean="0"/>
              <a:t> </a:t>
            </a:r>
            <a:r>
              <a:rPr lang="en-US" dirty="0"/>
              <a:t>da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čvor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funkcioniše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publisher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subscriber,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postiže</a:t>
            </a:r>
            <a:r>
              <a:rPr lang="en-US" dirty="0"/>
              <a:t> </a:t>
            </a:r>
            <a:r>
              <a:rPr lang="en-US" dirty="0" err="1"/>
              <a:t>viši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dostupnosti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 </a:t>
            </a:r>
            <a:r>
              <a:rPr lang="en-US" dirty="0" err="1"/>
              <a:t>opterećenja</a:t>
            </a:r>
            <a:r>
              <a:rPr lang="en-US" dirty="0"/>
              <a:t>.</a:t>
            </a:r>
            <a:r>
              <a:rPr lang="en-US" dirty="0" smtClean="0"/>
              <a:t> </a:t>
            </a:r>
            <a:endParaRPr lang="sr-Latn-RS" dirty="0" smtClean="0"/>
          </a:p>
          <a:p>
            <a:r>
              <a:rPr lang="sr-Latn-RS" dirty="0" smtClean="0"/>
              <a:t>S</a:t>
            </a:r>
            <a:r>
              <a:rPr lang="en-US" dirty="0" smtClean="0"/>
              <a:t>vi </a:t>
            </a:r>
            <a:r>
              <a:rPr lang="en-US" dirty="0" err="1"/>
              <a:t>serveri</a:t>
            </a:r>
            <a:r>
              <a:rPr lang="en-US" dirty="0"/>
              <a:t> </a:t>
            </a:r>
            <a:r>
              <a:rPr lang="en-US" dirty="0" err="1" smtClean="0"/>
              <a:t>održavaju</a:t>
            </a:r>
            <a:r>
              <a:rPr lang="en-US" dirty="0" smtClean="0"/>
              <a:t> </a:t>
            </a:r>
            <a:r>
              <a:rPr lang="en-US" dirty="0" err="1"/>
              <a:t>identične</a:t>
            </a:r>
            <a:r>
              <a:rPr lang="en-US" dirty="0"/>
              <a:t> </a:t>
            </a:r>
            <a:r>
              <a:rPr lang="en-US" dirty="0" err="1"/>
              <a:t>kopije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razmenjuju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</a:t>
            </a:r>
            <a:r>
              <a:rPr lang="en-US" dirty="0" err="1"/>
              <a:t>međusobno</a:t>
            </a:r>
            <a:r>
              <a:rPr lang="en-US" dirty="0"/>
              <a:t> u </a:t>
            </a:r>
            <a:r>
              <a:rPr lang="en-US" dirty="0" err="1"/>
              <a:t>skoro</a:t>
            </a:r>
            <a:r>
              <a:rPr lang="en-US" dirty="0"/>
              <a:t> </a:t>
            </a:r>
            <a:r>
              <a:rPr lang="en-US" dirty="0" err="1"/>
              <a:t>realnom</a:t>
            </a:r>
            <a:r>
              <a:rPr lang="en-US" dirty="0"/>
              <a:t> </a:t>
            </a:r>
            <a:r>
              <a:rPr lang="en-US" dirty="0" err="1" smtClean="0"/>
              <a:t>vremenu</a:t>
            </a:r>
            <a:endParaRPr lang="sr-Latn-RS" dirty="0" smtClean="0"/>
          </a:p>
          <a:p>
            <a:r>
              <a:rPr lang="sr-Latn-RS" dirty="0" smtClean="0"/>
              <a:t>V</a:t>
            </a:r>
            <a:r>
              <a:rPr lang="en-US" dirty="0" err="1" smtClean="0"/>
              <a:t>isok</a:t>
            </a:r>
            <a:r>
              <a:rPr lang="sr-Latn-RS" dirty="0" smtClean="0"/>
              <a:t>a</a:t>
            </a:r>
            <a:r>
              <a:rPr lang="en-US" dirty="0" smtClean="0"/>
              <a:t> </a:t>
            </a:r>
            <a:r>
              <a:rPr lang="en-US" dirty="0" err="1"/>
              <a:t>dostupnost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 smtClean="0"/>
              <a:t>skalabilnost</a:t>
            </a:r>
            <a:endParaRPr lang="sr-Latn-RS" dirty="0" smtClean="0"/>
          </a:p>
          <a:p>
            <a:r>
              <a:rPr lang="sr-Latn-RS" dirty="0" smtClean="0"/>
              <a:t>Upravljanje konfliktima je zahtevno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52150" y="1542077"/>
            <a:ext cx="3998575" cy="342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9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854528" cy="1278466"/>
          </a:xfrm>
        </p:spPr>
        <p:txBody>
          <a:bodyPr/>
          <a:lstStyle/>
          <a:p>
            <a:r>
              <a:rPr lang="en-US" sz="3600" dirty="0"/>
              <a:t>Merge </a:t>
            </a:r>
            <a:r>
              <a:rPr lang="en-US" sz="3600" dirty="0" err="1"/>
              <a:t>replikacija</a:t>
            </a:r>
            <a:r>
              <a:rPr lang="en-US" i="1" dirty="0"/>
              <a:t/>
            </a:r>
            <a:br>
              <a:rPr lang="en-US" i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951950" cy="5526437"/>
          </a:xfrm>
        </p:spPr>
        <p:txBody>
          <a:bodyPr>
            <a:normAutofit/>
          </a:bodyPr>
          <a:lstStyle/>
          <a:p>
            <a:r>
              <a:rPr lang="sr-Latn-RS" dirty="0" smtClean="0"/>
              <a:t>D</a:t>
            </a:r>
            <a:r>
              <a:rPr lang="en-US" dirty="0" err="1" smtClean="0"/>
              <a:t>izajnirana</a:t>
            </a:r>
            <a:r>
              <a:rPr lang="en-US" dirty="0" smtClean="0"/>
              <a:t> </a:t>
            </a:r>
            <a:r>
              <a:rPr lang="sr-Latn-RS" dirty="0" smtClean="0"/>
              <a:t>je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/>
              <a:t>distribuirana</a:t>
            </a:r>
            <a:r>
              <a:rPr lang="en-US" dirty="0"/>
              <a:t> </a:t>
            </a:r>
            <a:r>
              <a:rPr lang="en-US" dirty="0" err="1"/>
              <a:t>okruženja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lokacija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vršiti</a:t>
            </a:r>
            <a:r>
              <a:rPr lang="en-US" dirty="0"/>
              <a:t> </a:t>
            </a:r>
            <a:r>
              <a:rPr lang="en-US" dirty="0" err="1"/>
              <a:t>izmene</a:t>
            </a:r>
            <a:r>
              <a:rPr lang="en-US" dirty="0"/>
              <a:t> </a:t>
            </a:r>
            <a:r>
              <a:rPr lang="en-US" dirty="0" err="1"/>
              <a:t>nad</a:t>
            </a:r>
            <a:r>
              <a:rPr lang="en-US" dirty="0"/>
              <a:t>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podacima</a:t>
            </a:r>
            <a:r>
              <a:rPr lang="en-US" dirty="0"/>
              <a:t> </a:t>
            </a:r>
            <a:endParaRPr lang="sr-Latn-RS" dirty="0" smtClean="0"/>
          </a:p>
          <a:p>
            <a:r>
              <a:rPr lang="sr-Latn-RS" dirty="0" smtClean="0"/>
              <a:t>O</a:t>
            </a:r>
            <a:r>
              <a:rPr lang="en-US" dirty="0" err="1" smtClean="0"/>
              <a:t>mogućava</a:t>
            </a:r>
            <a:r>
              <a:rPr lang="en-US" dirty="0" smtClean="0"/>
              <a:t> </a:t>
            </a:r>
            <a:r>
              <a:rPr lang="en-US" dirty="0" err="1"/>
              <a:t>dvosmernu</a:t>
            </a:r>
            <a:r>
              <a:rPr lang="en-US" dirty="0"/>
              <a:t> </a:t>
            </a:r>
            <a:r>
              <a:rPr lang="en-US" dirty="0" err="1"/>
              <a:t>razmenu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se </a:t>
            </a:r>
            <a:r>
              <a:rPr lang="en-US" dirty="0" err="1"/>
              <a:t>promene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izvršavati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publisher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subscriber </a:t>
            </a:r>
            <a:r>
              <a:rPr lang="en-US" dirty="0" err="1" smtClean="0"/>
              <a:t>stranama</a:t>
            </a:r>
            <a:endParaRPr lang="sr-Latn-RS" dirty="0" smtClean="0"/>
          </a:p>
          <a:p>
            <a:r>
              <a:rPr lang="en-US" dirty="0" err="1"/>
              <a:t>Tokom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sinhronizacije</a:t>
            </a:r>
            <a:r>
              <a:rPr lang="en-US" dirty="0"/>
              <a:t>,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lokalne</a:t>
            </a:r>
            <a:r>
              <a:rPr lang="en-US" dirty="0"/>
              <a:t> </a:t>
            </a:r>
            <a:r>
              <a:rPr lang="en-US" dirty="0" err="1"/>
              <a:t>izmene</a:t>
            </a:r>
            <a:r>
              <a:rPr lang="en-US" dirty="0"/>
              <a:t> se </a:t>
            </a:r>
            <a:r>
              <a:rPr lang="en-US" dirty="0" err="1"/>
              <a:t>prikupljaju</a:t>
            </a:r>
            <a:r>
              <a:rPr lang="en-US" dirty="0"/>
              <a:t>, </a:t>
            </a:r>
            <a:r>
              <a:rPr lang="en-US" dirty="0" err="1"/>
              <a:t>razmenjuju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učesnika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objedinjuju</a:t>
            </a:r>
            <a:r>
              <a:rPr lang="en-US" dirty="0"/>
              <a:t> u </a:t>
            </a:r>
            <a:r>
              <a:rPr lang="en-US" dirty="0" err="1"/>
              <a:t>jedinstvenu</a:t>
            </a:r>
            <a:r>
              <a:rPr lang="en-US" dirty="0"/>
              <a:t>, </a:t>
            </a:r>
            <a:r>
              <a:rPr lang="en-US" dirty="0" err="1" smtClean="0"/>
              <a:t>konzis</a:t>
            </a:r>
            <a:endParaRPr lang="sr-Latn-RS" dirty="0" smtClean="0"/>
          </a:p>
          <a:p>
            <a:r>
              <a:rPr lang="sr-Latn-RS" dirty="0" smtClean="0"/>
              <a:t>N</a:t>
            </a:r>
            <a:r>
              <a:rPr lang="de-DE" dirty="0" smtClean="0"/>
              <a:t>ajkompleksniji </a:t>
            </a:r>
            <a:r>
              <a:rPr lang="de-DE" dirty="0"/>
              <a:t>model za konfiguraciju i održavanje, jer zahteva dodatne metapodatke, praćenje promena i pažljivo upravljanje konfliktima</a:t>
            </a:r>
            <a:r>
              <a:rPr lang="en-US" dirty="0" err="1" smtClean="0"/>
              <a:t>tentnu</a:t>
            </a:r>
            <a:r>
              <a:rPr lang="en-US" dirty="0" smtClean="0"/>
              <a:t> </a:t>
            </a:r>
            <a:r>
              <a:rPr lang="en-US" dirty="0" err="1"/>
              <a:t>verziju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endParaRPr lang="sr-Latn-RS" dirty="0" smtClean="0"/>
          </a:p>
          <a:p>
            <a:r>
              <a:rPr lang="sr-Latn-RS" dirty="0" smtClean="0"/>
              <a:t>S</a:t>
            </a:r>
            <a:r>
              <a:rPr lang="de-DE" dirty="0" smtClean="0"/>
              <a:t>amo </a:t>
            </a:r>
            <a:r>
              <a:rPr lang="de-DE" dirty="0"/>
              <a:t>u scenarijima gde je dvosmerna sinhronizacija neophodna</a:t>
            </a:r>
            <a:endParaRPr lang="en-US" b="1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4758" y="1278466"/>
            <a:ext cx="4283676" cy="34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5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3610"/>
            <a:ext cx="9607123" cy="1320800"/>
          </a:xfrm>
        </p:spPr>
        <p:txBody>
          <a:bodyPr/>
          <a:lstStyle/>
          <a:p>
            <a:r>
              <a:rPr lang="en-US" dirty="0"/>
              <a:t>Disaster Recovery (DR) </a:t>
            </a:r>
            <a:r>
              <a:rPr lang="en-US" dirty="0" err="1"/>
              <a:t>i</a:t>
            </a:r>
            <a:r>
              <a:rPr lang="en-US" dirty="0"/>
              <a:t> High Availability (HA)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18" y="1441622"/>
            <a:ext cx="8596668" cy="4846876"/>
          </a:xfrm>
        </p:spPr>
        <p:txBody>
          <a:bodyPr/>
          <a:lstStyle/>
          <a:p>
            <a:r>
              <a:rPr lang="en-US" dirty="0"/>
              <a:t>High Availability 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smtClean="0"/>
              <a:t>Disaster </a:t>
            </a:r>
            <a:r>
              <a:rPr lang="en-US" dirty="0"/>
              <a:t>Recovery </a:t>
            </a:r>
            <a:r>
              <a:rPr lang="en-US" dirty="0" err="1" smtClean="0"/>
              <a:t>predstavljaju</a:t>
            </a:r>
            <a:r>
              <a:rPr lang="en-US" dirty="0" smtClean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komplementarna</a:t>
            </a:r>
            <a:r>
              <a:rPr lang="en-US" dirty="0"/>
              <a:t> </a:t>
            </a:r>
            <a:r>
              <a:rPr lang="en-US" dirty="0" err="1"/>
              <a:t>koncepta</a:t>
            </a:r>
            <a:r>
              <a:rPr lang="en-US" dirty="0"/>
              <a:t> u </a:t>
            </a:r>
            <a:r>
              <a:rPr lang="en-US" dirty="0" err="1"/>
              <a:t>dizajnu</a:t>
            </a:r>
            <a:r>
              <a:rPr lang="en-US" dirty="0"/>
              <a:t> </a:t>
            </a:r>
            <a:r>
              <a:rPr lang="en-US" dirty="0" err="1"/>
              <a:t>pouzdanih</a:t>
            </a:r>
            <a:r>
              <a:rPr lang="en-US" dirty="0"/>
              <a:t> </a:t>
            </a:r>
            <a:r>
              <a:rPr lang="en-US" dirty="0" err="1"/>
              <a:t>informacionih</a:t>
            </a:r>
            <a:r>
              <a:rPr lang="en-US" dirty="0"/>
              <a:t> </a:t>
            </a:r>
            <a:r>
              <a:rPr lang="en-US" dirty="0" err="1" smtClean="0"/>
              <a:t>sistema</a:t>
            </a:r>
            <a:endParaRPr lang="sr-Latn-RS" dirty="0" smtClean="0"/>
          </a:p>
          <a:p>
            <a:r>
              <a:rPr lang="en-US" dirty="0" smtClean="0"/>
              <a:t>HA</a:t>
            </a:r>
            <a:r>
              <a:rPr lang="sr-Latn-RS" dirty="0" smtClean="0"/>
              <a:t> - </a:t>
            </a:r>
            <a:r>
              <a:rPr lang="en-US" dirty="0" err="1"/>
              <a:t>sposobnost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da </a:t>
            </a:r>
            <a:r>
              <a:rPr lang="en-US" dirty="0" err="1"/>
              <a:t>nastavi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radom</a:t>
            </a:r>
            <a:r>
              <a:rPr lang="en-US" dirty="0"/>
              <a:t> bez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minimalne</a:t>
            </a:r>
            <a:r>
              <a:rPr lang="en-US" dirty="0"/>
              <a:t> </a:t>
            </a:r>
            <a:r>
              <a:rPr lang="en-US" dirty="0" err="1"/>
              <a:t>prekide</a:t>
            </a:r>
            <a:r>
              <a:rPr lang="en-US" dirty="0"/>
              <a:t> u </a:t>
            </a:r>
            <a:r>
              <a:rPr lang="en-US" dirty="0" err="1"/>
              <a:t>slučaju</a:t>
            </a:r>
            <a:r>
              <a:rPr lang="en-US" dirty="0"/>
              <a:t> </a:t>
            </a:r>
            <a:r>
              <a:rPr lang="en-US" dirty="0" err="1"/>
              <a:t>parcijalnih</a:t>
            </a:r>
            <a:r>
              <a:rPr lang="en-US" dirty="0"/>
              <a:t> </a:t>
            </a:r>
            <a:r>
              <a:rPr lang="en-US" dirty="0" err="1" smtClean="0"/>
              <a:t>kvarova</a:t>
            </a:r>
            <a:endParaRPr lang="sr-Latn-RS" dirty="0" smtClean="0"/>
          </a:p>
          <a:p>
            <a:r>
              <a:rPr lang="en-US" dirty="0"/>
              <a:t>DR </a:t>
            </a:r>
            <a:r>
              <a:rPr lang="sr-Latn-RS" dirty="0" smtClean="0"/>
              <a:t>- </a:t>
            </a:r>
            <a:r>
              <a:rPr lang="en-US" dirty="0" err="1"/>
              <a:t>skup</a:t>
            </a:r>
            <a:r>
              <a:rPr lang="en-US" dirty="0"/>
              <a:t> </a:t>
            </a:r>
            <a:r>
              <a:rPr lang="en-US" dirty="0" err="1"/>
              <a:t>strategija</a:t>
            </a:r>
            <a:r>
              <a:rPr lang="en-US" dirty="0"/>
              <a:t>, </a:t>
            </a:r>
            <a:r>
              <a:rPr lang="en-US" dirty="0" err="1"/>
              <a:t>procedura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tehnologija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omogućavaju</a:t>
            </a:r>
            <a:r>
              <a:rPr lang="en-US" dirty="0"/>
              <a:t> </a:t>
            </a:r>
            <a:r>
              <a:rPr lang="en-US" dirty="0" err="1"/>
              <a:t>vraćanje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smtClean="0"/>
              <a:t>u </a:t>
            </a:r>
            <a:r>
              <a:rPr lang="en-US" dirty="0" err="1"/>
              <a:t>funkcionalno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ozbiljnih</a:t>
            </a:r>
            <a:r>
              <a:rPr lang="en-US" dirty="0"/>
              <a:t> </a:t>
            </a:r>
            <a:r>
              <a:rPr lang="en-US" dirty="0" err="1" smtClean="0"/>
              <a:t>incidenata</a:t>
            </a:r>
            <a:endParaRPr lang="sr-Latn-RS" dirty="0" smtClean="0"/>
          </a:p>
          <a:p>
            <a:r>
              <a:rPr lang="en-US" dirty="0" err="1"/>
              <a:t>Najnaprednije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u MSSQL </a:t>
            </a:r>
            <a:r>
              <a:rPr lang="en-US" dirty="0" err="1"/>
              <a:t>ekosistemu</a:t>
            </a:r>
            <a:r>
              <a:rPr lang="en-US" dirty="0"/>
              <a:t>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AlwaysOn</a:t>
            </a:r>
            <a:r>
              <a:rPr lang="en-US" dirty="0"/>
              <a:t> Availability </a:t>
            </a:r>
            <a:r>
              <a:rPr lang="en-US" dirty="0" smtClean="0"/>
              <a:t>Groups</a:t>
            </a:r>
            <a:r>
              <a:rPr lang="sr-Latn-RS" dirty="0" smtClean="0"/>
              <a:t>. </a:t>
            </a:r>
            <a:r>
              <a:rPr lang="en-US" dirty="0"/>
              <a:t>Ova </a:t>
            </a:r>
            <a:r>
              <a:rPr lang="en-US" dirty="0" err="1"/>
              <a:t>tehnologija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automatski</a:t>
            </a:r>
            <a:r>
              <a:rPr lang="en-US" dirty="0"/>
              <a:t> failover, </a:t>
            </a:r>
            <a:r>
              <a:rPr lang="en-US" dirty="0" err="1"/>
              <a:t>podršku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čitanje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sekundarnih</a:t>
            </a:r>
            <a:r>
              <a:rPr lang="en-US" dirty="0"/>
              <a:t> </a:t>
            </a:r>
            <a:r>
              <a:rPr lang="en-US" dirty="0" err="1"/>
              <a:t>replika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visok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 smtClean="0"/>
              <a:t>dostupnosti</a:t>
            </a:r>
            <a:endParaRPr lang="sr-Latn-RS" dirty="0" smtClean="0"/>
          </a:p>
          <a:p>
            <a:r>
              <a:rPr lang="en-US" dirty="0" err="1"/>
              <a:t>Iako</a:t>
            </a:r>
            <a:r>
              <a:rPr lang="en-US" dirty="0"/>
              <a:t>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sebi</a:t>
            </a:r>
            <a:r>
              <a:rPr lang="en-US" dirty="0"/>
              <a:t> ne </a:t>
            </a:r>
            <a:r>
              <a:rPr lang="en-US" dirty="0" err="1"/>
              <a:t>predstavlja</a:t>
            </a:r>
            <a:r>
              <a:rPr lang="en-US" dirty="0"/>
              <a:t> </a:t>
            </a:r>
            <a:r>
              <a:rPr lang="en-US" dirty="0" err="1"/>
              <a:t>kompletno</a:t>
            </a:r>
            <a:r>
              <a:rPr lang="en-US" dirty="0"/>
              <a:t> HA </a:t>
            </a:r>
            <a:r>
              <a:rPr lang="en-US" dirty="0" err="1" smtClean="0"/>
              <a:t>rešenje</a:t>
            </a:r>
            <a:r>
              <a:rPr lang="sr-Latn-RS" dirty="0" smtClean="0"/>
              <a:t> </a:t>
            </a:r>
            <a:r>
              <a:rPr lang="en-US" dirty="0" err="1"/>
              <a:t>ona</a:t>
            </a:r>
            <a:r>
              <a:rPr lang="en-US" dirty="0"/>
              <a:t> se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dopunski</a:t>
            </a:r>
            <a:r>
              <a:rPr lang="en-US" dirty="0"/>
              <a:t> </a:t>
            </a:r>
            <a:r>
              <a:rPr lang="en-US" dirty="0" err="1"/>
              <a:t>mehanizam</a:t>
            </a:r>
            <a:r>
              <a:rPr lang="en-US" dirty="0"/>
              <a:t> u </a:t>
            </a:r>
            <a:r>
              <a:rPr lang="en-US" dirty="0" err="1"/>
              <a:t>okviru</a:t>
            </a:r>
            <a:r>
              <a:rPr lang="en-US" dirty="0"/>
              <a:t> </a:t>
            </a:r>
            <a:r>
              <a:rPr lang="en-US" dirty="0" err="1"/>
              <a:t>šire</a:t>
            </a:r>
            <a:r>
              <a:rPr lang="en-US" dirty="0"/>
              <a:t> DR </a:t>
            </a:r>
            <a:r>
              <a:rPr lang="en-US" dirty="0" err="1"/>
              <a:t>i</a:t>
            </a:r>
            <a:r>
              <a:rPr lang="en-US" dirty="0"/>
              <a:t> HA </a:t>
            </a:r>
            <a:r>
              <a:rPr lang="en-US" dirty="0" err="1"/>
              <a:t>strategije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14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Implementacija replikacije u MSSQL-u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20563"/>
            <a:ext cx="8596668" cy="4220800"/>
          </a:xfrm>
        </p:spPr>
        <p:txBody>
          <a:bodyPr/>
          <a:lstStyle/>
          <a:p>
            <a:r>
              <a:rPr lang="en-US" dirty="0" err="1" smtClean="0"/>
              <a:t>Jedna</a:t>
            </a:r>
            <a:r>
              <a:rPr lang="en-US" dirty="0" smtClean="0"/>
              <a:t> </a:t>
            </a:r>
            <a:r>
              <a:rPr lang="en-US" dirty="0" err="1" smtClean="0"/>
              <a:t>instanca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Publisher</a:t>
            </a:r>
            <a:r>
              <a:rPr lang="en-US" dirty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Distributo</a:t>
            </a:r>
            <a:r>
              <a:rPr lang="sr-Latn-RS" dirty="0" smtClean="0"/>
              <a:t>r</a:t>
            </a:r>
          </a:p>
          <a:p>
            <a:r>
              <a:rPr lang="en-US" dirty="0" err="1"/>
              <a:t>Pode</a:t>
            </a:r>
            <a:r>
              <a:rPr lang="sr-Latn-RS" dirty="0"/>
              <a:t>šavanje distributora </a:t>
            </a:r>
            <a:endParaRPr lang="sr-Latn-RS" dirty="0" smtClean="0"/>
          </a:p>
          <a:p>
            <a:r>
              <a:rPr lang="sr-Latn-RS" dirty="0" smtClean="0"/>
              <a:t>P</a:t>
            </a:r>
            <a:r>
              <a:rPr lang="en-US" dirty="0" err="1" smtClean="0"/>
              <a:t>ublikacije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subskripcije</a:t>
            </a:r>
            <a:r>
              <a:rPr lang="en-US" dirty="0"/>
              <a:t> </a:t>
            </a:r>
            <a:r>
              <a:rPr lang="sr-Latn-RS" dirty="0" smtClean="0"/>
              <a:t>su </a:t>
            </a:r>
            <a:r>
              <a:rPr lang="en-US" dirty="0" err="1" smtClean="0"/>
              <a:t>kreirane</a:t>
            </a:r>
            <a:r>
              <a:rPr lang="en-US" dirty="0" smtClean="0"/>
              <a:t> </a:t>
            </a:r>
            <a:r>
              <a:rPr lang="en-US" dirty="0" err="1"/>
              <a:t>kroz</a:t>
            </a:r>
            <a:r>
              <a:rPr lang="en-US" dirty="0"/>
              <a:t> SSMS </a:t>
            </a:r>
            <a:r>
              <a:rPr lang="en-US" dirty="0" smtClean="0"/>
              <a:t>wizard</a:t>
            </a:r>
            <a:endParaRPr lang="sr-Latn-RS" dirty="0" smtClean="0"/>
          </a:p>
          <a:p>
            <a:pPr lvl="1"/>
            <a:r>
              <a:rPr lang="sr-Latn-RS" dirty="0" smtClean="0"/>
              <a:t>Transactional publication</a:t>
            </a:r>
            <a:endParaRPr lang="en-US" dirty="0" smtClean="0"/>
          </a:p>
          <a:p>
            <a:r>
              <a:rPr lang="sr-Latn-RS" dirty="0" smtClean="0"/>
              <a:t>I</a:t>
            </a:r>
            <a:r>
              <a:rPr lang="en-US" dirty="0" err="1"/>
              <a:t>spravnost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sinhronizacije</a:t>
            </a:r>
            <a:r>
              <a:rPr lang="sr-Latn-RS" dirty="0"/>
              <a:t> su</a:t>
            </a:r>
            <a:r>
              <a:rPr lang="en-US" dirty="0"/>
              <a:t> </a:t>
            </a:r>
            <a:r>
              <a:rPr lang="en-US" dirty="0" err="1"/>
              <a:t>proveravani</a:t>
            </a:r>
            <a:r>
              <a:rPr lang="en-US" dirty="0"/>
              <a:t> u Replication Monitor-u</a:t>
            </a:r>
          </a:p>
          <a:p>
            <a:endParaRPr lang="sr-Latn-RS" dirty="0" smtClean="0"/>
          </a:p>
          <a:p>
            <a:pPr lvl="1"/>
            <a:r>
              <a:rPr lang="en-US" dirty="0"/>
              <a:t>Snapshot Agent, Log Reader Agent </a:t>
            </a:r>
            <a:r>
              <a:rPr lang="en-US" dirty="0" err="1"/>
              <a:t>i</a:t>
            </a:r>
            <a:r>
              <a:rPr lang="en-US" dirty="0"/>
              <a:t> Distribution </a:t>
            </a:r>
            <a:r>
              <a:rPr lang="en-US" dirty="0" smtClean="0"/>
              <a:t>Agent</a:t>
            </a:r>
            <a:endParaRPr lang="sr-Latn-RS" dirty="0" smtClean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36263" y="4622636"/>
            <a:ext cx="5647690" cy="148463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 rotWithShape="1">
          <a:blip r:embed="rId3"/>
          <a:srcRect r="5977" b="10381"/>
          <a:stretch/>
        </p:blipFill>
        <p:spPr>
          <a:xfrm>
            <a:off x="8589414" y="2446714"/>
            <a:ext cx="3602586" cy="202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7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Simulacija incidenta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Ne postoji opcija da se simulira kvar isključivanjem SQL servisa jer bi obe baze nestale istovremeno i ne bi bilo moguće pratiti ponašanje replikacije</a:t>
            </a:r>
          </a:p>
          <a:p>
            <a:r>
              <a:rPr lang="sr-Latn-RS" dirty="0" smtClean="0"/>
              <a:t>Rešenje: zaustavljanje replikacionog agenta</a:t>
            </a:r>
          </a:p>
          <a:p>
            <a:r>
              <a:rPr lang="pl-PL" dirty="0" smtClean="0"/>
              <a:t>Podseća na </a:t>
            </a:r>
            <a:r>
              <a:rPr lang="pl-PL" dirty="0"/>
              <a:t>realan problem iz </a:t>
            </a:r>
            <a:r>
              <a:rPr lang="pl-PL" dirty="0" smtClean="0"/>
              <a:t>prakse poput prekida mreže ili zastoja </a:t>
            </a:r>
            <a:r>
              <a:rPr lang="pl-PL" dirty="0"/>
              <a:t>agenta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3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424" y="1294620"/>
            <a:ext cx="8596668" cy="5563380"/>
          </a:xfrm>
        </p:spPr>
        <p:txBody>
          <a:bodyPr/>
          <a:lstStyle/>
          <a:p>
            <a:r>
              <a:rPr lang="sr-Latn-RS" dirty="0" smtClean="0"/>
              <a:t>Replikacija normalno radi i baze su sinhronizovane </a:t>
            </a:r>
          </a:p>
          <a:p>
            <a:r>
              <a:rPr lang="sr-Latn-RS" dirty="0" smtClean="0"/>
              <a:t>Zaustavljamo Agent i prekida se prenos promena ka subscriberu</a:t>
            </a:r>
          </a:p>
          <a:p>
            <a:r>
              <a:rPr lang="sr-Latn-RS" dirty="0" smtClean="0"/>
              <a:t>T</a:t>
            </a:r>
            <a:r>
              <a:rPr lang="en-US" dirty="0" err="1" smtClean="0"/>
              <a:t>okom</a:t>
            </a:r>
            <a:r>
              <a:rPr lang="en-US" dirty="0" smtClean="0"/>
              <a:t> </a:t>
            </a:r>
            <a:r>
              <a:rPr lang="en-US" dirty="0" err="1"/>
              <a:t>prekida</a:t>
            </a:r>
            <a:r>
              <a:rPr lang="en-US" dirty="0"/>
              <a:t> </a:t>
            </a:r>
            <a:r>
              <a:rPr lang="en-US" dirty="0" err="1"/>
              <a:t>izvršen</a:t>
            </a:r>
            <a:r>
              <a:rPr lang="en-US" dirty="0"/>
              <a:t> je INSERT </a:t>
            </a:r>
            <a:r>
              <a:rPr lang="en-US" dirty="0" err="1"/>
              <a:t>nad</a:t>
            </a:r>
            <a:r>
              <a:rPr lang="en-US" dirty="0"/>
              <a:t> publisher </a:t>
            </a:r>
            <a:r>
              <a:rPr lang="en-US" dirty="0" err="1"/>
              <a:t>bazom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je </a:t>
            </a:r>
            <a:r>
              <a:rPr lang="en-US" dirty="0" err="1"/>
              <a:t>stvoren</a:t>
            </a:r>
            <a:r>
              <a:rPr lang="en-US" dirty="0"/>
              <a:t> </a:t>
            </a:r>
            <a:r>
              <a:rPr lang="en-US" dirty="0" err="1"/>
              <a:t>kontrolisani</a:t>
            </a:r>
            <a:r>
              <a:rPr lang="en-US" dirty="0"/>
              <a:t> </a:t>
            </a:r>
            <a:r>
              <a:rPr lang="en-US" dirty="0" err="1"/>
              <a:t>zaostatak</a:t>
            </a:r>
            <a:r>
              <a:rPr lang="en-US" dirty="0"/>
              <a:t> u </a:t>
            </a:r>
            <a:r>
              <a:rPr lang="en-US" dirty="0" err="1" smtClean="0"/>
              <a:t>replikacij</a:t>
            </a:r>
            <a:r>
              <a:rPr lang="sr-Latn-RS" dirty="0" smtClean="0"/>
              <a:t>i</a:t>
            </a:r>
          </a:p>
          <a:p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/>
              <a:t>ponovnog</a:t>
            </a:r>
            <a:r>
              <a:rPr lang="en-US" dirty="0"/>
              <a:t> </a:t>
            </a:r>
            <a:r>
              <a:rPr lang="en-US" dirty="0" err="1"/>
              <a:t>pokretanja</a:t>
            </a:r>
            <a:r>
              <a:rPr lang="en-US" dirty="0"/>
              <a:t> </a:t>
            </a:r>
            <a:r>
              <a:rPr lang="en-US" dirty="0" err="1"/>
              <a:t>agenta</a:t>
            </a:r>
            <a:r>
              <a:rPr lang="en-US" dirty="0"/>
              <a:t>, </a:t>
            </a:r>
            <a:r>
              <a:rPr lang="en-US" dirty="0" err="1"/>
              <a:t>sistem</a:t>
            </a:r>
            <a:r>
              <a:rPr lang="en-US" dirty="0"/>
              <a:t> je </a:t>
            </a:r>
            <a:r>
              <a:rPr lang="en-US" dirty="0" err="1"/>
              <a:t>isporučio</a:t>
            </a:r>
            <a:r>
              <a:rPr lang="en-US" dirty="0"/>
              <a:t> </a:t>
            </a:r>
            <a:r>
              <a:rPr lang="en-US" dirty="0" err="1"/>
              <a:t>zaostale</a:t>
            </a:r>
            <a:r>
              <a:rPr lang="en-US" dirty="0"/>
              <a:t> </a:t>
            </a:r>
            <a:r>
              <a:rPr lang="en-US" dirty="0" err="1"/>
              <a:t>transakcije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obnovio</a:t>
            </a:r>
            <a:r>
              <a:rPr lang="en-US" dirty="0"/>
              <a:t> </a:t>
            </a:r>
            <a:r>
              <a:rPr lang="en-US" dirty="0" err="1"/>
              <a:t>potpunu</a:t>
            </a:r>
            <a:r>
              <a:rPr lang="en-US" dirty="0"/>
              <a:t> </a:t>
            </a:r>
            <a:r>
              <a:rPr lang="en-US" dirty="0" err="1" smtClean="0"/>
              <a:t>sinhronizaciju</a:t>
            </a:r>
            <a:endParaRPr lang="sr-Latn-RS" dirty="0" smtClean="0"/>
          </a:p>
          <a:p>
            <a:r>
              <a:rPr lang="sr-Latn-RS" dirty="0" smtClean="0"/>
              <a:t>E</a:t>
            </a:r>
            <a:r>
              <a:rPr lang="en-US" dirty="0" err="1" smtClean="0"/>
              <a:t>ksperiment</a:t>
            </a:r>
            <a:r>
              <a:rPr lang="en-US" dirty="0" smtClean="0"/>
              <a:t> </a:t>
            </a:r>
            <a:r>
              <a:rPr lang="en-US" dirty="0" err="1"/>
              <a:t>pokazuje</a:t>
            </a:r>
            <a:r>
              <a:rPr lang="en-US" dirty="0"/>
              <a:t> da transactional </a:t>
            </a:r>
            <a:r>
              <a:rPr lang="en-US" dirty="0" err="1"/>
              <a:t>replikacija</a:t>
            </a:r>
            <a:r>
              <a:rPr lang="en-US" dirty="0"/>
              <a:t> </a:t>
            </a:r>
            <a:r>
              <a:rPr lang="en-US" dirty="0" err="1"/>
              <a:t>obezbeđuje</a:t>
            </a:r>
            <a:r>
              <a:rPr lang="en-US" dirty="0"/>
              <a:t> </a:t>
            </a:r>
            <a:r>
              <a:rPr lang="en-US" dirty="0" err="1"/>
              <a:t>nizak</a:t>
            </a:r>
            <a:r>
              <a:rPr lang="en-US" dirty="0"/>
              <a:t> RPO, </a:t>
            </a:r>
            <a:r>
              <a:rPr lang="en-US" dirty="0" err="1"/>
              <a:t>kratak</a:t>
            </a:r>
            <a:r>
              <a:rPr lang="en-US" dirty="0"/>
              <a:t> RTO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očuvanje</a:t>
            </a:r>
            <a:r>
              <a:rPr lang="en-US" dirty="0"/>
              <a:t> </a:t>
            </a:r>
            <a:r>
              <a:rPr lang="en-US" dirty="0" err="1"/>
              <a:t>konzistentnosti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nakon</a:t>
            </a:r>
            <a:r>
              <a:rPr lang="en-US" dirty="0"/>
              <a:t> </a:t>
            </a:r>
            <a:r>
              <a:rPr lang="en-US" dirty="0" err="1" smtClean="0"/>
              <a:t>incidenta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590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r="10191" b="19901"/>
          <a:stretch/>
        </p:blipFill>
        <p:spPr bwMode="auto">
          <a:xfrm>
            <a:off x="119639" y="114732"/>
            <a:ext cx="5460279" cy="39585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 rotWithShape="1">
          <a:blip r:embed="rId3"/>
          <a:srcRect r="13946" b="16010"/>
          <a:stretch/>
        </p:blipFill>
        <p:spPr bwMode="auto">
          <a:xfrm>
            <a:off x="4737569" y="2448999"/>
            <a:ext cx="4820299" cy="32484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90921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724" b="38495"/>
          <a:stretch/>
        </p:blipFill>
        <p:spPr bwMode="auto">
          <a:xfrm>
            <a:off x="198148" y="431799"/>
            <a:ext cx="8062625" cy="23945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b="32890"/>
          <a:stretch/>
        </p:blipFill>
        <p:spPr bwMode="auto">
          <a:xfrm>
            <a:off x="2254827" y="3356265"/>
            <a:ext cx="6647757" cy="2483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86806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Prednosti i organičenja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75745" y="1642269"/>
            <a:ext cx="4185623" cy="576262"/>
          </a:xfrm>
        </p:spPr>
        <p:txBody>
          <a:bodyPr/>
          <a:lstStyle/>
          <a:p>
            <a:r>
              <a:rPr lang="sr-Latn-RS" dirty="0" smtClean="0">
                <a:solidFill>
                  <a:schemeClr val="accent1"/>
                </a:solidFill>
              </a:rPr>
              <a:t>Prednosti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Dostupnost</a:t>
            </a:r>
            <a:r>
              <a:rPr lang="en-US" dirty="0"/>
              <a:t> bez </a:t>
            </a:r>
            <a:r>
              <a:rPr lang="en-US" dirty="0" err="1"/>
              <a:t>prekida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minimalni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endParaRPr lang="sr-Latn-RS" dirty="0" smtClean="0"/>
          </a:p>
          <a:p>
            <a:r>
              <a:rPr lang="en-US" dirty="0" err="1"/>
              <a:t>Dostupnost</a:t>
            </a:r>
            <a:r>
              <a:rPr lang="en-US" dirty="0"/>
              <a:t> bez </a:t>
            </a:r>
            <a:r>
              <a:rPr lang="en-US" dirty="0" err="1"/>
              <a:t>prekida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minimalni</a:t>
            </a:r>
            <a:r>
              <a:rPr lang="en-US" dirty="0"/>
              <a:t> </a:t>
            </a:r>
            <a:r>
              <a:rPr lang="en-US" dirty="0" err="1"/>
              <a:t>gubitak</a:t>
            </a:r>
            <a:r>
              <a:rPr lang="en-US" dirty="0"/>
              <a:t> </a:t>
            </a:r>
            <a:r>
              <a:rPr lang="en-US" dirty="0" err="1" smtClean="0"/>
              <a:t>podataka</a:t>
            </a:r>
            <a:endParaRPr lang="sr-Latn-RS" dirty="0" smtClean="0"/>
          </a:p>
          <a:p>
            <a:r>
              <a:rPr lang="en-US" dirty="0" err="1"/>
              <a:t>Integracija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postojećim</a:t>
            </a:r>
            <a:r>
              <a:rPr lang="en-US" dirty="0"/>
              <a:t> MSSQL </a:t>
            </a:r>
            <a:r>
              <a:rPr lang="en-US" dirty="0" err="1"/>
              <a:t>ekosistemom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5088383" y="1642269"/>
            <a:ext cx="4185618" cy="576262"/>
          </a:xfrm>
        </p:spPr>
        <p:txBody>
          <a:bodyPr/>
          <a:lstStyle/>
          <a:p>
            <a:r>
              <a:rPr lang="sr-Latn-RS" dirty="0" smtClean="0">
                <a:solidFill>
                  <a:schemeClr val="accent1"/>
                </a:solidFill>
              </a:rPr>
              <a:t>Ograničenja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err="1"/>
              <a:t>Mrežne</a:t>
            </a:r>
            <a:r>
              <a:rPr lang="en-US" dirty="0"/>
              <a:t> </a:t>
            </a:r>
            <a:r>
              <a:rPr lang="en-US" dirty="0" err="1"/>
              <a:t>greške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latencija</a:t>
            </a:r>
            <a:endParaRPr lang="en-US" dirty="0"/>
          </a:p>
          <a:p>
            <a:r>
              <a:rPr lang="en-US" dirty="0" err="1"/>
              <a:t>Konfliktni</a:t>
            </a:r>
            <a:r>
              <a:rPr lang="en-US" dirty="0"/>
              <a:t> </a:t>
            </a:r>
            <a:r>
              <a:rPr lang="en-US" dirty="0" err="1"/>
              <a:t>podaci</a:t>
            </a:r>
            <a:endParaRPr lang="en-US" dirty="0"/>
          </a:p>
          <a:p>
            <a:r>
              <a:rPr lang="en-US" dirty="0" err="1"/>
              <a:t>Složenost</a:t>
            </a:r>
            <a:r>
              <a:rPr lang="en-US" dirty="0"/>
              <a:t> </a:t>
            </a:r>
            <a:r>
              <a:rPr lang="en-US" dirty="0" err="1"/>
              <a:t>podešavanja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skaliranja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3065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</TotalTime>
  <Words>838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Replikacija MSSQL baze podataka kao mehanizam oporavka</vt:lpstr>
      <vt:lpstr>Sadržaj</vt:lpstr>
      <vt:lpstr>Šta je replikacija?</vt:lpstr>
      <vt:lpstr>Replikacije u MS SQL-u</vt:lpstr>
      <vt:lpstr>Snapshot replikacija </vt:lpstr>
      <vt:lpstr>Transactional replikacija </vt:lpstr>
      <vt:lpstr>Peer-to-Peer replikacija </vt:lpstr>
      <vt:lpstr>Merge replikacija </vt:lpstr>
      <vt:lpstr>Disaster Recovery (DR) i High Availability (HA) </vt:lpstr>
      <vt:lpstr>Implementacija replikacije u MSSQL-u</vt:lpstr>
      <vt:lpstr>Simulacija incidenta</vt:lpstr>
      <vt:lpstr>PowerPoint Presentation</vt:lpstr>
      <vt:lpstr>PowerPoint Presentation</vt:lpstr>
      <vt:lpstr>PowerPoint Presentation</vt:lpstr>
      <vt:lpstr>Prednosti i organičenja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Replikacija MS SQL baze podataka kao mehanizam oporavka</dc:title>
  <dc:creator>Windows User</dc:creator>
  <cp:lastModifiedBy>Windows User</cp:lastModifiedBy>
  <cp:revision>15</cp:revision>
  <dcterms:created xsi:type="dcterms:W3CDTF">2026-03-12T18:35:29Z</dcterms:created>
  <dcterms:modified xsi:type="dcterms:W3CDTF">2026-03-13T10:22:32Z</dcterms:modified>
</cp:coreProperties>
</file>