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59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Interna</a:t>
            </a:r>
            <a:r>
              <a:rPr lang="en-US" dirty="0" smtClean="0"/>
              <a:t> </a:t>
            </a:r>
            <a:r>
              <a:rPr lang="en-US" dirty="0" err="1" smtClean="0"/>
              <a:t>struktura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organizacija</a:t>
            </a:r>
            <a:r>
              <a:rPr lang="en-US" dirty="0" smtClean="0"/>
              <a:t> </a:t>
            </a:r>
            <a:r>
              <a:rPr lang="en-US" dirty="0" err="1" smtClean="0"/>
              <a:t>indeksa</a:t>
            </a:r>
            <a:r>
              <a:rPr lang="en-US" dirty="0" smtClean="0"/>
              <a:t> </a:t>
            </a:r>
            <a:r>
              <a:rPr lang="en-US" dirty="0" err="1" smtClean="0"/>
              <a:t>kod</a:t>
            </a:r>
            <a:r>
              <a:rPr lang="en-US" dirty="0" smtClean="0"/>
              <a:t> MS SQL </a:t>
            </a:r>
            <a:r>
              <a:rPr lang="en-US" dirty="0" err="1" smtClean="0"/>
              <a:t>baze</a:t>
            </a:r>
            <a:r>
              <a:rPr lang="en-US" dirty="0" smtClean="0"/>
              <a:t> </a:t>
            </a:r>
            <a:r>
              <a:rPr lang="en-US" dirty="0" err="1" smtClean="0"/>
              <a:t>podataka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Luci</a:t>
            </a:r>
            <a:r>
              <a:rPr lang="sr-Latn-RS" dirty="0" smtClean="0"/>
              <a:t>j</a:t>
            </a:r>
            <a:r>
              <a:rPr lang="en-US" dirty="0" smtClean="0"/>
              <a:t>a </a:t>
            </a:r>
            <a:r>
              <a:rPr lang="en-US" dirty="0" err="1" smtClean="0"/>
              <a:t>Stojkovi</a:t>
            </a:r>
            <a:r>
              <a:rPr lang="sr-Latn-RS" dirty="0" smtClean="0"/>
              <a:t>ć, br. ind. 1903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4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Sadr</a:t>
            </a:r>
            <a:r>
              <a:rPr lang="sr-Latn-RS" dirty="0" smtClean="0"/>
              <a:t>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378" y="2144113"/>
            <a:ext cx="8596668" cy="3880773"/>
          </a:xfrm>
        </p:spPr>
        <p:txBody>
          <a:bodyPr/>
          <a:lstStyle/>
          <a:p>
            <a:r>
              <a:rPr lang="sr-Latn-RS" sz="2400" dirty="0" smtClean="0"/>
              <a:t>Uvod</a:t>
            </a:r>
          </a:p>
          <a:p>
            <a:r>
              <a:rPr lang="sr-Latn-RS" sz="2400" dirty="0" smtClean="0"/>
              <a:t>Teorijski okvir</a:t>
            </a:r>
          </a:p>
          <a:p>
            <a:r>
              <a:rPr lang="sr-Latn-RS" sz="2400" dirty="0" smtClean="0"/>
              <a:t>Interna struktura indeksa u MS SQL Serveru</a:t>
            </a:r>
          </a:p>
          <a:p>
            <a:r>
              <a:rPr lang="sr-Latn-RS" sz="2400" dirty="0" smtClean="0"/>
              <a:t>Tipovi indeksa u MS SQL Serveru</a:t>
            </a:r>
          </a:p>
          <a:p>
            <a:r>
              <a:rPr lang="sr-Latn-RS" sz="2400" dirty="0" smtClean="0"/>
              <a:t>Performanse i optimizacija</a:t>
            </a:r>
          </a:p>
          <a:p>
            <a:r>
              <a:rPr lang="sr-Latn-RS" sz="2400" dirty="0" smtClean="0"/>
              <a:t>Eksperimentalni deo</a:t>
            </a:r>
          </a:p>
          <a:p>
            <a:r>
              <a:rPr lang="sr-Latn-RS" sz="2400" dirty="0" smtClean="0"/>
              <a:t>Zaključak</a:t>
            </a:r>
          </a:p>
          <a:p>
            <a:pPr marL="0" indent="0">
              <a:buNone/>
            </a:pPr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3210489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 smtClean="0"/>
              <a:t>indeksi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Strukture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ubrzavaju</a:t>
            </a:r>
            <a:r>
              <a:rPr lang="en-US" sz="2400" dirty="0" smtClean="0"/>
              <a:t> </a:t>
            </a:r>
            <a:r>
              <a:rPr lang="en-US" sz="2400" dirty="0" err="1" smtClean="0"/>
              <a:t>pretragu</a:t>
            </a:r>
            <a:r>
              <a:rPr lang="en-US" sz="2400" dirty="0" smtClean="0"/>
              <a:t> </a:t>
            </a:r>
            <a:r>
              <a:rPr lang="en-US" sz="2400" dirty="0" err="1" smtClean="0"/>
              <a:t>podataka</a:t>
            </a:r>
            <a:endParaRPr lang="en-US" sz="2400" dirty="0" smtClean="0"/>
          </a:p>
          <a:p>
            <a:r>
              <a:rPr lang="en-US" sz="2400" dirty="0" err="1" smtClean="0"/>
              <a:t>Spre</a:t>
            </a:r>
            <a:r>
              <a:rPr lang="sr-Latn-RS" sz="2400" dirty="0" smtClean="0"/>
              <a:t>čavaju </a:t>
            </a:r>
            <a:r>
              <a:rPr lang="sr-Latn-RS" sz="2400" dirty="0" smtClean="0"/>
              <a:t>potrebu </a:t>
            </a:r>
            <a:r>
              <a:rPr lang="sr-Latn-RS" sz="2400" dirty="0" smtClean="0"/>
              <a:t>Table Scan </a:t>
            </a:r>
            <a:r>
              <a:rPr lang="sr-Latn-RS" sz="2400" dirty="0" smtClean="0"/>
              <a:t>operacije</a:t>
            </a:r>
            <a:endParaRPr lang="sr-Latn-RS" sz="2400" dirty="0" smtClean="0"/>
          </a:p>
          <a:p>
            <a:r>
              <a:rPr lang="sr-Latn-RS" sz="2400" dirty="0" smtClean="0"/>
              <a:t>Analogija: indeks u knjizi</a:t>
            </a:r>
          </a:p>
          <a:p>
            <a:r>
              <a:rPr lang="sr-Latn-RS" sz="2400" dirty="0" smtClean="0"/>
              <a:t>Omogućavaju brži pristup velikim tabelama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3780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Vrste indeksa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702" y="1820562"/>
            <a:ext cx="9621795" cy="4942703"/>
          </a:xfrm>
        </p:spPr>
        <p:txBody>
          <a:bodyPr>
            <a:normAutofit/>
          </a:bodyPr>
          <a:lstStyle/>
          <a:p>
            <a:r>
              <a:rPr lang="sr-Latn-RS" dirty="0" smtClean="0"/>
              <a:t>Klaster</a:t>
            </a:r>
            <a:r>
              <a:rPr lang="en-US" dirty="0" err="1" smtClean="0"/>
              <a:t>ovani</a:t>
            </a:r>
            <a:r>
              <a:rPr lang="en-US" dirty="0" smtClean="0"/>
              <a:t> </a:t>
            </a:r>
            <a:r>
              <a:rPr lang="en-US" dirty="0" err="1" smtClean="0"/>
              <a:t>indeks</a:t>
            </a:r>
            <a:endParaRPr lang="sr-Latn-RS" dirty="0" smtClean="0"/>
          </a:p>
          <a:p>
            <a:pPr lvl="1"/>
            <a:r>
              <a:rPr lang="sr-Latn-RS" dirty="0" smtClean="0"/>
              <a:t>Odredjuje fizički redosled podataka u tabeli</a:t>
            </a:r>
          </a:p>
          <a:p>
            <a:pPr lvl="1"/>
            <a:r>
              <a:rPr lang="sr-Latn-RS" dirty="0" smtClean="0"/>
              <a:t>Tabela može imati samo jedan klasterovani indeks</a:t>
            </a:r>
          </a:p>
          <a:p>
            <a:pPr lvl="1"/>
            <a:r>
              <a:rPr lang="sr-Latn-RS" dirty="0" smtClean="0"/>
              <a:t>Primarni ključ</a:t>
            </a:r>
            <a:endParaRPr lang="en-US" dirty="0" smtClean="0"/>
          </a:p>
          <a:p>
            <a:r>
              <a:rPr lang="en-US" dirty="0" err="1" smtClean="0"/>
              <a:t>Neklasterovani</a:t>
            </a:r>
            <a:r>
              <a:rPr lang="en-US" dirty="0" smtClean="0"/>
              <a:t> </a:t>
            </a:r>
            <a:r>
              <a:rPr lang="en-US" dirty="0" err="1" smtClean="0"/>
              <a:t>indeks</a:t>
            </a:r>
            <a:endParaRPr lang="sr-Latn-RS" dirty="0" smtClean="0"/>
          </a:p>
          <a:p>
            <a:pPr lvl="1"/>
            <a:r>
              <a:rPr lang="sr-Latn-RS" dirty="0" smtClean="0"/>
              <a:t>Ne menja redosled podataka u tabeli, već čuva listu pokazivača na fizičke lokacije podataka u tabeli</a:t>
            </a:r>
          </a:p>
          <a:p>
            <a:pPr lvl="1"/>
            <a:r>
              <a:rPr lang="sr-Latn-RS" dirty="0" smtClean="0"/>
              <a:t>Svaka tabela ih može imati više</a:t>
            </a:r>
          </a:p>
          <a:p>
            <a:pPr lvl="1"/>
            <a:r>
              <a:rPr lang="sr-Latn-RS" dirty="0" smtClean="0"/>
              <a:t>Prilikom pretrage se prvo pronalazi odgovarajuća vrednost u indeksu, a zatim i sam podatak u tabeli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5819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Vrste indeksa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751" y="1425147"/>
            <a:ext cx="10124303" cy="4616216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Kompozitni</a:t>
            </a:r>
            <a:r>
              <a:rPr lang="en-US" dirty="0"/>
              <a:t> </a:t>
            </a:r>
            <a:r>
              <a:rPr lang="en-US" dirty="0" err="1" smtClean="0"/>
              <a:t>indeks</a:t>
            </a:r>
            <a:endParaRPr lang="sr-Latn-RS" dirty="0" smtClean="0"/>
          </a:p>
          <a:p>
            <a:pPr lvl="1"/>
            <a:r>
              <a:rPr lang="sr-Latn-RS" dirty="0" smtClean="0"/>
              <a:t>Kombinacija više kolona</a:t>
            </a:r>
          </a:p>
          <a:p>
            <a:pPr lvl="1"/>
            <a:r>
              <a:rPr lang="sr-Latn-RS" dirty="0" smtClean="0"/>
              <a:t>Pogodni za pretrage gde se u uslovu nalazi više kolona</a:t>
            </a:r>
          </a:p>
          <a:p>
            <a:pPr lvl="1"/>
            <a:r>
              <a:rPr lang="sr-Latn-RS" dirty="0" smtClean="0"/>
              <a:t>Redosled kolona ima uticaj na efikasnost indeksa</a:t>
            </a:r>
            <a:endParaRPr lang="en-US" dirty="0"/>
          </a:p>
          <a:p>
            <a:r>
              <a:rPr lang="en-US" dirty="0"/>
              <a:t>Bitmap </a:t>
            </a:r>
            <a:r>
              <a:rPr lang="en-US" dirty="0" err="1" smtClean="0"/>
              <a:t>indeks</a:t>
            </a:r>
            <a:endParaRPr lang="sr-Latn-RS" dirty="0" smtClean="0"/>
          </a:p>
          <a:p>
            <a:pPr lvl="1"/>
            <a:r>
              <a:rPr lang="sr-Latn-RS" dirty="0" smtClean="0"/>
              <a:t>Bitmap struktura za predstavljanje vrednosti u kolonama</a:t>
            </a:r>
          </a:p>
          <a:p>
            <a:pPr lvl="1"/>
            <a:r>
              <a:rPr lang="sr-Latn-RS" dirty="0" smtClean="0"/>
              <a:t>Efikasni su za kolone sa malim brojem različitih vrednosti</a:t>
            </a:r>
          </a:p>
          <a:p>
            <a:pPr lvl="1"/>
            <a:r>
              <a:rPr lang="sr-Latn-RS" dirty="0" smtClean="0"/>
              <a:t>Svaka vrednost ima </a:t>
            </a:r>
            <a:r>
              <a:rPr lang="sr-Latn-RS" dirty="0" smtClean="0"/>
              <a:t>pridruženu </a:t>
            </a:r>
            <a:r>
              <a:rPr lang="sr-Latn-RS" dirty="0" smtClean="0"/>
              <a:t>bitmapu koja pokazuje u kojim se sve redovima ta vrednost pojavljuje</a:t>
            </a:r>
            <a:endParaRPr lang="en-US" dirty="0"/>
          </a:p>
          <a:p>
            <a:r>
              <a:rPr lang="en-US" dirty="0"/>
              <a:t>Hash </a:t>
            </a:r>
            <a:r>
              <a:rPr lang="en-US" dirty="0" err="1" smtClean="0"/>
              <a:t>indeks</a:t>
            </a:r>
            <a:endParaRPr lang="sr-Latn-RS" dirty="0" smtClean="0"/>
          </a:p>
          <a:p>
            <a:pPr lvl="1"/>
            <a:r>
              <a:rPr lang="sr-Latn-RS" dirty="0" smtClean="0"/>
              <a:t>Zasnivaju se na hash funkciji koja transformiše vrednost ključa u hash vrednost koja pokazuje lokaciju podatka u indeksu </a:t>
            </a:r>
          </a:p>
          <a:p>
            <a:pPr lvl="1"/>
            <a:r>
              <a:rPr lang="sr-Latn-RS" dirty="0" smtClean="0"/>
              <a:t>Pogodni za upite gde se </a:t>
            </a:r>
            <a:r>
              <a:rPr lang="sr-Latn-RS" dirty="0" smtClean="0"/>
              <a:t>traže </a:t>
            </a:r>
            <a:r>
              <a:rPr lang="sr-Latn-RS" dirty="0" smtClean="0"/>
              <a:t>tačno odredjene vrednosti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2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843" y="609600"/>
            <a:ext cx="8829159" cy="1320800"/>
          </a:xfrm>
        </p:spPr>
        <p:txBody>
          <a:bodyPr/>
          <a:lstStyle/>
          <a:p>
            <a:r>
              <a:rPr lang="sr-Latn-RS" dirty="0" smtClean="0"/>
              <a:t>Interna stuktura indeksa u MS SQL Serveru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088" y="1548715"/>
            <a:ext cx="8596668" cy="4492648"/>
          </a:xfrm>
        </p:spPr>
        <p:txBody>
          <a:bodyPr/>
          <a:lstStyle/>
          <a:p>
            <a:r>
              <a:rPr lang="en-US" dirty="0" err="1"/>
              <a:t>Većina</a:t>
            </a:r>
            <a:r>
              <a:rPr lang="en-US" dirty="0"/>
              <a:t> </a:t>
            </a:r>
            <a:r>
              <a:rPr lang="en-US" dirty="0" err="1"/>
              <a:t>rowstore</a:t>
            </a:r>
            <a:r>
              <a:rPr lang="en-US" dirty="0"/>
              <a:t> </a:t>
            </a:r>
            <a:r>
              <a:rPr lang="en-US" dirty="0" err="1"/>
              <a:t>indeksa</a:t>
            </a:r>
            <a:r>
              <a:rPr lang="en-US" dirty="0"/>
              <a:t> u SQL Server-u </a:t>
            </a:r>
            <a:r>
              <a:rPr lang="en-US" dirty="0" err="1"/>
              <a:t>organizovana</a:t>
            </a:r>
            <a:r>
              <a:rPr lang="en-US" dirty="0"/>
              <a:t> je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balansirano</a:t>
            </a:r>
            <a:r>
              <a:rPr lang="en-US" dirty="0"/>
              <a:t> </a:t>
            </a:r>
            <a:r>
              <a:rPr lang="en-US" dirty="0" err="1" smtClean="0"/>
              <a:t>stablo</a:t>
            </a:r>
            <a:r>
              <a:rPr lang="sr-Latn-RS" dirty="0" smtClean="0"/>
              <a:t> – </a:t>
            </a:r>
            <a:r>
              <a:rPr lang="sr-Latn-RS" dirty="0" smtClean="0">
                <a:solidFill>
                  <a:schemeClr val="accent1"/>
                </a:solidFill>
              </a:rPr>
              <a:t>B-Tree</a:t>
            </a:r>
          </a:p>
          <a:p>
            <a:pPr lvl="1"/>
            <a:r>
              <a:rPr lang="sr-Latn-RS" dirty="0" smtClean="0"/>
              <a:t>Minimizacija broja pristupa disku</a:t>
            </a:r>
          </a:p>
          <a:p>
            <a:pPr lvl="1"/>
            <a:r>
              <a:rPr lang="sr-Latn-RS" dirty="0" smtClean="0">
                <a:solidFill>
                  <a:schemeClr val="accent1"/>
                </a:solidFill>
              </a:rPr>
              <a:t>Korenski čvor </a:t>
            </a:r>
            <a:r>
              <a:rPr lang="sr-Latn-RS" dirty="0" smtClean="0"/>
              <a:t>– početna tačka svake pretrage</a:t>
            </a:r>
          </a:p>
          <a:p>
            <a:pPr lvl="1"/>
            <a:r>
              <a:rPr lang="sr-Latn-RS" dirty="0" smtClean="0">
                <a:solidFill>
                  <a:schemeClr val="accent1"/>
                </a:solidFill>
              </a:rPr>
              <a:t>Srednji čvorovi </a:t>
            </a:r>
            <a:r>
              <a:rPr lang="sr-Latn-RS" dirty="0" smtClean="0"/>
              <a:t>– usmeravaju pretragu ka odgovarajućoj grani</a:t>
            </a:r>
          </a:p>
          <a:p>
            <a:pPr lvl="1"/>
            <a:r>
              <a:rPr lang="sr-Latn-RS" dirty="0" smtClean="0">
                <a:solidFill>
                  <a:schemeClr val="accent1"/>
                </a:solidFill>
              </a:rPr>
              <a:t>Listovi</a:t>
            </a:r>
            <a:r>
              <a:rPr lang="sr-Latn-RS" dirty="0" smtClean="0"/>
              <a:t> – podaci ili reference koje vode do podataka</a:t>
            </a:r>
          </a:p>
          <a:p>
            <a:pPr marL="457200" lvl="1" indent="0">
              <a:buNone/>
            </a:pPr>
            <a:endParaRPr lang="sr-Latn-RS" dirty="0" smtClean="0"/>
          </a:p>
          <a:p>
            <a:r>
              <a:rPr lang="en-US" dirty="0" err="1"/>
              <a:t>Priroda</a:t>
            </a:r>
            <a:r>
              <a:rPr lang="en-US" dirty="0"/>
              <a:t> </a:t>
            </a:r>
            <a:r>
              <a:rPr lang="en-US" dirty="0" err="1"/>
              <a:t>sadržaja</a:t>
            </a:r>
            <a:r>
              <a:rPr lang="en-US" dirty="0"/>
              <a:t> </a:t>
            </a:r>
            <a:r>
              <a:rPr lang="sr-Latn-RS" dirty="0" smtClean="0"/>
              <a:t>listova </a:t>
            </a:r>
            <a:r>
              <a:rPr lang="en-US" dirty="0" err="1" smtClean="0"/>
              <a:t>zavisi</a:t>
            </a:r>
            <a:r>
              <a:rPr lang="en-US" dirty="0" smtClean="0"/>
              <a:t> </a:t>
            </a:r>
            <a:r>
              <a:rPr lang="en-US" dirty="0"/>
              <a:t>od </a:t>
            </a:r>
            <a:r>
              <a:rPr lang="en-US" dirty="0" err="1"/>
              <a:t>vrste</a:t>
            </a:r>
            <a:r>
              <a:rPr lang="en-US" dirty="0"/>
              <a:t> </a:t>
            </a:r>
            <a:r>
              <a:rPr lang="en-US" dirty="0" err="1" smtClean="0"/>
              <a:t>indeksa</a:t>
            </a:r>
            <a:endParaRPr lang="sr-Latn-RS" dirty="0" smtClean="0"/>
          </a:p>
          <a:p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klasterovanog</a:t>
            </a:r>
            <a:r>
              <a:rPr lang="en-US" dirty="0"/>
              <a:t> </a:t>
            </a:r>
            <a:r>
              <a:rPr lang="en-US" dirty="0" err="1"/>
              <a:t>indeksa</a:t>
            </a:r>
            <a:r>
              <a:rPr lang="en-US" dirty="0"/>
              <a:t> leaf </a:t>
            </a:r>
            <a:r>
              <a:rPr lang="en-US" dirty="0" err="1"/>
              <a:t>nivo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stvarne</a:t>
            </a:r>
            <a:r>
              <a:rPr lang="en-US" dirty="0"/>
              <a:t> </a:t>
            </a:r>
            <a:r>
              <a:rPr lang="en-US" dirty="0" err="1"/>
              <a:t>redove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,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neklasterovanog</a:t>
            </a:r>
            <a:r>
              <a:rPr lang="en-US" dirty="0"/>
              <a:t> </a:t>
            </a:r>
            <a:r>
              <a:rPr lang="en-US" dirty="0" err="1"/>
              <a:t>indeksa</a:t>
            </a:r>
            <a:r>
              <a:rPr lang="en-US" dirty="0"/>
              <a:t> </a:t>
            </a:r>
            <a:r>
              <a:rPr lang="en-US" dirty="0" err="1"/>
              <a:t>sadrži</a:t>
            </a:r>
            <a:r>
              <a:rPr lang="en-US" dirty="0"/>
              <a:t> </a:t>
            </a:r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reference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podacima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4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Tipovi</a:t>
            </a:r>
            <a:r>
              <a:rPr lang="en-US" dirty="0" smtClean="0"/>
              <a:t> </a:t>
            </a:r>
            <a:r>
              <a:rPr lang="en-US" dirty="0" err="1" smtClean="0"/>
              <a:t>indeksa</a:t>
            </a:r>
            <a:r>
              <a:rPr lang="en-US" dirty="0" smtClean="0"/>
              <a:t> </a:t>
            </a:r>
            <a:r>
              <a:rPr lang="en-US" dirty="0" err="1" smtClean="0"/>
              <a:t>kod</a:t>
            </a:r>
            <a:r>
              <a:rPr lang="en-US" dirty="0" smtClean="0"/>
              <a:t> MS SQL </a:t>
            </a:r>
            <a:r>
              <a:rPr lang="en-US" dirty="0" err="1" smtClean="0"/>
              <a:t>baza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05234"/>
            <a:ext cx="8969202" cy="4426746"/>
          </a:xfrm>
        </p:spPr>
        <p:txBody>
          <a:bodyPr/>
          <a:lstStyle/>
          <a:p>
            <a:r>
              <a:rPr lang="sr-Latn-RS" dirty="0" smtClean="0">
                <a:solidFill>
                  <a:schemeClr val="accent1"/>
                </a:solidFill>
              </a:rPr>
              <a:t>Klasterovani indeks </a:t>
            </a:r>
            <a:r>
              <a:rPr lang="sr-Latn-RS" dirty="0" smtClean="0"/>
              <a:t>– odredjuje fizički redosled podataka u tabeli</a:t>
            </a:r>
          </a:p>
          <a:p>
            <a:r>
              <a:rPr lang="sr-Latn-RS" dirty="0" smtClean="0">
                <a:solidFill>
                  <a:schemeClr val="accent1"/>
                </a:solidFill>
              </a:rPr>
              <a:t>Neklasterovani indeks </a:t>
            </a:r>
            <a:r>
              <a:rPr lang="sr-Latn-RS" dirty="0" smtClean="0"/>
              <a:t>– indeksna struktura koja sadrži pokazivače na podatke u tabeli</a:t>
            </a:r>
          </a:p>
          <a:p>
            <a:r>
              <a:rPr lang="sr-Latn-RS" dirty="0" smtClean="0">
                <a:solidFill>
                  <a:schemeClr val="accent1"/>
                </a:solidFill>
              </a:rPr>
              <a:t>Kompozitni indeks </a:t>
            </a:r>
            <a:r>
              <a:rPr lang="sr-Latn-RS" dirty="0" smtClean="0"/>
              <a:t>– koristi više od jedne kolone kao ključ</a:t>
            </a:r>
          </a:p>
          <a:p>
            <a:r>
              <a:rPr lang="sr-Latn-RS" dirty="0" smtClean="0">
                <a:solidFill>
                  <a:schemeClr val="accent1"/>
                </a:solidFill>
              </a:rPr>
              <a:t>Filtrirani indeks </a:t>
            </a:r>
            <a:r>
              <a:rPr lang="sr-Latn-RS" dirty="0" smtClean="0"/>
              <a:t>– specifična vrsta neklasterovanih indeksa gde se indeksira samo unapred odredjen skup redova u tabeli (WHERE prilikom kreiranja indeksa)</a:t>
            </a:r>
          </a:p>
          <a:p>
            <a:r>
              <a:rPr lang="sr-Latn-RS" dirty="0" smtClean="0">
                <a:solidFill>
                  <a:schemeClr val="accent1"/>
                </a:solidFill>
              </a:rPr>
              <a:t>Columnstore indeks </a:t>
            </a:r>
            <a:r>
              <a:rPr lang="sr-Latn-RS" dirty="0" smtClean="0"/>
              <a:t>– skladišti podatke po kolonama; pogodno za upite koji obradjuju velike količine podataka, a koriste ograničeni broj kolona</a:t>
            </a:r>
          </a:p>
          <a:p>
            <a:r>
              <a:rPr lang="sr-Latn-RS" dirty="0">
                <a:solidFill>
                  <a:schemeClr val="accent1"/>
                </a:solidFill>
              </a:rPr>
              <a:t>Full-Text indeks </a:t>
            </a:r>
            <a:r>
              <a:rPr lang="sr-Latn-RS" dirty="0"/>
              <a:t>– napredna pretraga tekstualnog sadržaja</a:t>
            </a:r>
          </a:p>
          <a:p>
            <a:r>
              <a:rPr lang="sr-Latn-RS" dirty="0">
                <a:solidFill>
                  <a:schemeClr val="accent1"/>
                </a:solidFill>
              </a:rPr>
              <a:t>XML indeks </a:t>
            </a:r>
            <a:r>
              <a:rPr lang="sr-Latn-RS" dirty="0"/>
              <a:t>– rad sa XML dokumentima</a:t>
            </a:r>
          </a:p>
          <a:p>
            <a:r>
              <a:rPr lang="sr-Latn-RS" dirty="0" smtClean="0">
                <a:solidFill>
                  <a:schemeClr val="accent1"/>
                </a:solidFill>
              </a:rPr>
              <a:t>Spatial indeks </a:t>
            </a:r>
            <a:r>
              <a:rPr lang="sr-Latn-RS" dirty="0" smtClean="0"/>
              <a:t>– rad sa prostornim podacima; ubrzavanje upita nad geometrijskim objektima i </a:t>
            </a:r>
            <a:r>
              <a:rPr lang="sr-Latn-RS" dirty="0" smtClean="0"/>
              <a:t>geografskim </a:t>
            </a:r>
            <a:r>
              <a:rPr lang="sr-Latn-RS" dirty="0" smtClean="0"/>
              <a:t>koordinatama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487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Performanse i optimizacija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5189"/>
            <a:ext cx="8596668" cy="4476173"/>
          </a:xfrm>
        </p:spPr>
        <p:txBody>
          <a:bodyPr/>
          <a:lstStyle/>
          <a:p>
            <a:r>
              <a:rPr lang="sr-Latn-RS" dirty="0" smtClean="0"/>
              <a:t>Najvća korist od indeksa se uočava kod SELECT upita</a:t>
            </a:r>
          </a:p>
          <a:p>
            <a:r>
              <a:rPr lang="sr-Latn-RS" dirty="0" smtClean="0"/>
              <a:t>Query Optimizer analizira moguće načine izvršavanja upita i bira najpogodniji</a:t>
            </a:r>
          </a:p>
          <a:p>
            <a:endParaRPr lang="sr-Latn-RS" dirty="0" smtClean="0"/>
          </a:p>
          <a:p>
            <a:r>
              <a:rPr lang="sr-Latn-RS" dirty="0" smtClean="0"/>
              <a:t>Indeksi uvode dodatni </a:t>
            </a:r>
            <a:r>
              <a:rPr lang="sr-Latn-RS" dirty="0" smtClean="0"/>
              <a:t>trošak </a:t>
            </a:r>
            <a:r>
              <a:rPr lang="sr-Latn-RS" dirty="0" smtClean="0"/>
              <a:t>kod DML operacija</a:t>
            </a:r>
          </a:p>
          <a:p>
            <a:r>
              <a:rPr lang="sr-Latn-RS" dirty="0" smtClean="0"/>
              <a:t>Kompromis </a:t>
            </a:r>
            <a:r>
              <a:rPr lang="de-DE" dirty="0" smtClean="0"/>
              <a:t>izme</a:t>
            </a:r>
            <a:r>
              <a:rPr lang="sr-Latn-RS" dirty="0" smtClean="0"/>
              <a:t>dj</a:t>
            </a:r>
            <a:r>
              <a:rPr lang="de-DE" dirty="0" smtClean="0"/>
              <a:t>u </a:t>
            </a:r>
            <a:r>
              <a:rPr lang="de-DE" dirty="0"/>
              <a:t>performansi čitanja i troškova </a:t>
            </a:r>
            <a:r>
              <a:rPr lang="de-DE" dirty="0" smtClean="0"/>
              <a:t>održavanja</a:t>
            </a:r>
            <a:endParaRPr lang="sr-Latn-RS" dirty="0" smtClean="0"/>
          </a:p>
          <a:p>
            <a:endParaRPr lang="sr-Latn-RS" dirty="0"/>
          </a:p>
          <a:p>
            <a:r>
              <a:rPr lang="sr-Latn-RS" dirty="0" smtClean="0"/>
              <a:t>Izbegavati veliki broj indeksa nad tabelom</a:t>
            </a:r>
          </a:p>
          <a:p>
            <a:r>
              <a:rPr lang="sr-Latn-RS" dirty="0" smtClean="0"/>
              <a:t>P</a:t>
            </a:r>
            <a:r>
              <a:rPr lang="de-DE" dirty="0" smtClean="0"/>
              <a:t>reporučuje </a:t>
            </a:r>
            <a:r>
              <a:rPr lang="de-DE" dirty="0"/>
              <a:t>da se indeksi kreiraju nad kolonama koje se redovno koriste u </a:t>
            </a:r>
            <a:r>
              <a:rPr lang="de-DE" dirty="0">
                <a:solidFill>
                  <a:schemeClr val="accent1"/>
                </a:solidFill>
              </a:rPr>
              <a:t>WHERE</a:t>
            </a:r>
            <a:r>
              <a:rPr lang="de-DE" dirty="0"/>
              <a:t>, </a:t>
            </a:r>
            <a:r>
              <a:rPr lang="de-DE" dirty="0">
                <a:solidFill>
                  <a:schemeClr val="accent1"/>
                </a:solidFill>
              </a:rPr>
              <a:t>JOIN</a:t>
            </a:r>
            <a:r>
              <a:rPr lang="de-DE" dirty="0"/>
              <a:t> i </a:t>
            </a:r>
            <a:r>
              <a:rPr lang="de-DE" dirty="0">
                <a:solidFill>
                  <a:schemeClr val="accent1"/>
                </a:solidFill>
              </a:rPr>
              <a:t>ORDER BY </a:t>
            </a:r>
            <a:r>
              <a:rPr lang="de-DE" dirty="0"/>
              <a:t>klauzulama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857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Eksperiment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1709" y="1540477"/>
            <a:ext cx="6977448" cy="479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4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sr-Latn-RS" dirty="0" smtClean="0"/>
              <a:t>Pretraga bez indeksa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53081" y="981676"/>
            <a:ext cx="5943600" cy="492887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117102" y="4509426"/>
            <a:ext cx="526796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93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sr-Latn-RS" dirty="0" smtClean="0"/>
              <a:t>Neklasterovani indeks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562" y="807309"/>
            <a:ext cx="5264322" cy="457569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3"/>
          <a:srcRect b="13408"/>
          <a:stretch/>
        </p:blipFill>
        <p:spPr>
          <a:xfrm>
            <a:off x="3797455" y="4011484"/>
            <a:ext cx="4448810" cy="252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3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sr-Latn-RS" dirty="0" smtClean="0"/>
              <a:t>Kompozitni indeks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36" y="660400"/>
            <a:ext cx="5275371" cy="508643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909686" y="1853162"/>
            <a:ext cx="5943600" cy="323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2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sr-Latn-RS" dirty="0" smtClean="0"/>
              <a:t>Filtrirani indeks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b="8581"/>
          <a:stretch/>
        </p:blipFill>
        <p:spPr bwMode="auto">
          <a:xfrm>
            <a:off x="214184" y="749645"/>
            <a:ext cx="5657875" cy="48640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65968" y="4326091"/>
            <a:ext cx="4330700" cy="171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07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en-US" dirty="0" err="1"/>
              <a:t>Columnstore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b="10040"/>
          <a:stretch/>
        </p:blipFill>
        <p:spPr bwMode="auto">
          <a:xfrm>
            <a:off x="280086" y="832022"/>
            <a:ext cx="5537541" cy="50040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98334" y="4106330"/>
            <a:ext cx="5943600" cy="220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47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Analiza rezultata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361" y="1930400"/>
            <a:ext cx="8178152" cy="311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5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en-US" dirty="0" err="1"/>
              <a:t>Uticaj</a:t>
            </a:r>
            <a:r>
              <a:rPr lang="en-US" dirty="0"/>
              <a:t> </a:t>
            </a:r>
            <a:r>
              <a:rPr lang="en-US" dirty="0" err="1"/>
              <a:t>indeksa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INSERT </a:t>
            </a:r>
            <a:r>
              <a:rPr lang="en-US" dirty="0" err="1"/>
              <a:t>operacije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24" t="-4" r="17753" b="10914"/>
          <a:stretch/>
        </p:blipFill>
        <p:spPr bwMode="auto">
          <a:xfrm>
            <a:off x="123568" y="739946"/>
            <a:ext cx="5642918" cy="42933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/>
          <a:srcRect b="8867"/>
          <a:stretch/>
        </p:blipFill>
        <p:spPr>
          <a:xfrm>
            <a:off x="6056871" y="739946"/>
            <a:ext cx="5943600" cy="530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31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en-US" dirty="0" err="1"/>
              <a:t>Uticaj</a:t>
            </a:r>
            <a:r>
              <a:rPr lang="en-US" dirty="0"/>
              <a:t> </a:t>
            </a:r>
            <a:r>
              <a:rPr lang="en-US" dirty="0" err="1"/>
              <a:t>indeksa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UPDATE </a:t>
            </a:r>
            <a:r>
              <a:rPr lang="en-US" dirty="0" err="1"/>
              <a:t>operacije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b="13903"/>
          <a:stretch/>
        </p:blipFill>
        <p:spPr>
          <a:xfrm>
            <a:off x="160924" y="1320801"/>
            <a:ext cx="4275593" cy="334181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3"/>
          <a:srcRect l="-416" t="-187" r="416" b="15737"/>
          <a:stretch/>
        </p:blipFill>
        <p:spPr>
          <a:xfrm>
            <a:off x="5018903" y="1274119"/>
            <a:ext cx="5943600" cy="371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15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Analiza rezultata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035" y="2440495"/>
            <a:ext cx="8528774" cy="18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732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356</TotalTime>
  <Words>496</Words>
  <Application>Microsoft Office PowerPoint</Application>
  <PresentationFormat>Widescreen</PresentationFormat>
  <Paragraphs>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Interna struktura i organizacija indeksa kod MS SQL baze podataka</vt:lpstr>
      <vt:lpstr>Sadržaj</vt:lpstr>
      <vt:lpstr>Šta su indeksi?</vt:lpstr>
      <vt:lpstr>Vrste indeksa</vt:lpstr>
      <vt:lpstr>Vrste indeksa</vt:lpstr>
      <vt:lpstr>Interna stuktura indeksa u MS SQL Serveru</vt:lpstr>
      <vt:lpstr>Tipovi indeksa kod MS SQL baza</vt:lpstr>
      <vt:lpstr>Performanse i optimizacija</vt:lpstr>
      <vt:lpstr>Eksperiment</vt:lpstr>
      <vt:lpstr>Pretraga bez indeksa</vt:lpstr>
      <vt:lpstr>Neklasterovani indeks</vt:lpstr>
      <vt:lpstr>Kompozitni indeks</vt:lpstr>
      <vt:lpstr>Filtrirani indeks</vt:lpstr>
      <vt:lpstr>Columnstore indeks </vt:lpstr>
      <vt:lpstr>Analiza rezultata</vt:lpstr>
      <vt:lpstr>Uticaj indeksa na INSERT operacije</vt:lpstr>
      <vt:lpstr>Uticaj indeksa na UPDATE operacije</vt:lpstr>
      <vt:lpstr>Analiza rezultata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 struktura i organizacija indeksa kod MS SQL baze podataka</dc:title>
  <dc:creator>Windows User</dc:creator>
  <cp:lastModifiedBy>Windows User</cp:lastModifiedBy>
  <cp:revision>20</cp:revision>
  <dcterms:created xsi:type="dcterms:W3CDTF">2026-03-10T19:50:06Z</dcterms:created>
  <dcterms:modified xsi:type="dcterms:W3CDTF">2026-03-11T22:46:04Z</dcterms:modified>
</cp:coreProperties>
</file>