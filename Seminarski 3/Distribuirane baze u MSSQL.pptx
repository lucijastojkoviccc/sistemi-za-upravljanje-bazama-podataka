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173" y="2404534"/>
            <a:ext cx="8713830" cy="1646302"/>
          </a:xfrm>
        </p:spPr>
        <p:txBody>
          <a:bodyPr/>
          <a:lstStyle/>
          <a:p>
            <a:r>
              <a:rPr lang="sr-Latn-RS" b="1" dirty="0"/>
              <a:t> </a:t>
            </a:r>
            <a:r>
              <a:rPr lang="en-US" dirty="0"/>
              <a:t/>
            </a:r>
            <a:br>
              <a:rPr lang="en-US" dirty="0"/>
            </a:br>
            <a:r>
              <a:rPr lang="sr-Latn-RS" dirty="0"/>
              <a:t>Distribuirane baze u MS SQL Server-u putem Linked Servers i OPENQUERY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dirty="0" smtClean="0"/>
              <a:t>Lucija Stojković, br. ind. 1903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265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Sadržaj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Uvod</a:t>
            </a:r>
          </a:p>
          <a:p>
            <a:r>
              <a:rPr lang="sr-Latn-RS" dirty="0" smtClean="0"/>
              <a:t>Teorijski okvir</a:t>
            </a:r>
          </a:p>
          <a:p>
            <a:r>
              <a:rPr lang="sr-Latn-RS" dirty="0" smtClean="0"/>
              <a:t>Linked Servers u MS SQL-u</a:t>
            </a:r>
          </a:p>
          <a:p>
            <a:r>
              <a:rPr lang="sr-Latn-RS" dirty="0" smtClean="0"/>
              <a:t>OPENQUERY i daljinsko izvršavanje upita</a:t>
            </a:r>
          </a:p>
          <a:p>
            <a:r>
              <a:rPr lang="sr-Latn-RS" dirty="0" smtClean="0"/>
              <a:t>Eksperimentalni deo</a:t>
            </a:r>
          </a:p>
          <a:p>
            <a:r>
              <a:rPr lang="sr-Latn-RS" dirty="0" smtClean="0"/>
              <a:t>Prednosti i ograničenja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745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Distribuirane baze podataka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Distribuirana baza podataka predstavlja logički jedinstven informacioni sistem čiji su podaci fizički raspoređeni na više međusobno povezanih </a:t>
            </a:r>
            <a:r>
              <a:rPr lang="sr-Latn-RS" dirty="0" smtClean="0"/>
              <a:t>lokacija</a:t>
            </a:r>
          </a:p>
          <a:p>
            <a:r>
              <a:rPr lang="sr-Latn-RS" dirty="0"/>
              <a:t>Svaka lokacija poseduje sopstveni sistem za upravljanje bazama podataka, dok koordinacioni sloj obezbeđuje da korisnik celokupan skup podataka doživljava kao jednu celinu </a:t>
            </a:r>
            <a:endParaRPr lang="sr-Latn-RS" dirty="0" smtClean="0"/>
          </a:p>
          <a:p>
            <a:r>
              <a:rPr lang="sr-Latn-RS" dirty="0" smtClean="0"/>
              <a:t>Korisnik </a:t>
            </a:r>
            <a:r>
              <a:rPr lang="sr-Latn-RS" dirty="0"/>
              <a:t>ne mora da zna na kom se tačno čvoru nalaze određene tabele ili </a:t>
            </a:r>
            <a:r>
              <a:rPr lang="sr-Latn-RS" dirty="0" smtClean="0"/>
              <a:t>zapis</a:t>
            </a:r>
          </a:p>
          <a:p>
            <a:r>
              <a:rPr lang="sr-Latn-RS" dirty="0" smtClean="0"/>
              <a:t>MSSQl </a:t>
            </a:r>
            <a:r>
              <a:rPr lang="en-US" dirty="0" err="1" smtClean="0"/>
              <a:t>nudi</a:t>
            </a:r>
            <a:r>
              <a:rPr lang="en-US" dirty="0" smtClean="0"/>
              <a:t> </a:t>
            </a:r>
            <a:r>
              <a:rPr lang="en-US" dirty="0" err="1"/>
              <a:t>nekoliko</a:t>
            </a:r>
            <a:r>
              <a:rPr lang="en-US" dirty="0"/>
              <a:t> </a:t>
            </a:r>
            <a:r>
              <a:rPr lang="en-US" dirty="0" err="1" smtClean="0"/>
              <a:t>mehanizama</a:t>
            </a:r>
            <a:r>
              <a:rPr lang="sr-Latn-RS" dirty="0" smtClean="0"/>
              <a:t> za rad sa udaljenim serverima</a:t>
            </a:r>
          </a:p>
          <a:p>
            <a:pPr lvl="1"/>
            <a:r>
              <a:rPr lang="sr-Latn-RS" dirty="0" smtClean="0"/>
              <a:t>Linked Servers</a:t>
            </a:r>
          </a:p>
          <a:p>
            <a:pPr lvl="1"/>
            <a:r>
              <a:rPr lang="sr-Latn-RS" dirty="0" smtClean="0"/>
              <a:t>OPENQUERY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79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Servers u MS SQL Server-u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7161" y="1796846"/>
            <a:ext cx="4172725" cy="3880773"/>
          </a:xfrm>
        </p:spPr>
        <p:txBody>
          <a:bodyPr/>
          <a:lstStyle/>
          <a:p>
            <a:r>
              <a:rPr lang="sr-Latn-RS" dirty="0" smtClean="0"/>
              <a:t>J</a:t>
            </a:r>
            <a:r>
              <a:rPr lang="en-US" dirty="0" err="1" smtClean="0"/>
              <a:t>edan</a:t>
            </a:r>
            <a:r>
              <a:rPr lang="en-US" dirty="0" smtClean="0"/>
              <a:t> </a:t>
            </a:r>
            <a:r>
              <a:rPr lang="en-US" dirty="0"/>
              <a:t>od </a:t>
            </a:r>
            <a:r>
              <a:rPr lang="en-US" dirty="0" err="1"/>
              <a:t>najvažnijih</a:t>
            </a:r>
            <a:r>
              <a:rPr lang="en-US" dirty="0"/>
              <a:t> </a:t>
            </a:r>
            <a:r>
              <a:rPr lang="en-US" dirty="0" err="1"/>
              <a:t>mehanizama</a:t>
            </a:r>
            <a:r>
              <a:rPr lang="en-US" dirty="0"/>
              <a:t> </a:t>
            </a:r>
            <a:r>
              <a:rPr lang="sr-Latn-RS" dirty="0" smtClean="0"/>
              <a:t>MS</a:t>
            </a:r>
            <a:r>
              <a:rPr lang="en-US" dirty="0" smtClean="0"/>
              <a:t> </a:t>
            </a:r>
            <a:r>
              <a:rPr lang="en-US" dirty="0"/>
              <a:t>SQL Server-a </a:t>
            </a:r>
            <a:r>
              <a:rPr lang="en-US" dirty="0" err="1"/>
              <a:t>za</a:t>
            </a:r>
            <a:r>
              <a:rPr lang="en-US" dirty="0"/>
              <a:t> rad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distribuiranim</a:t>
            </a:r>
            <a:r>
              <a:rPr lang="en-US" dirty="0"/>
              <a:t> </a:t>
            </a:r>
            <a:r>
              <a:rPr lang="en-US" dirty="0" err="1" smtClean="0"/>
              <a:t>podacim</a:t>
            </a:r>
            <a:endParaRPr lang="sr-Latn-RS" dirty="0" smtClean="0"/>
          </a:p>
          <a:p>
            <a:r>
              <a:rPr lang="en-US" dirty="0" err="1"/>
              <a:t>Omogućava</a:t>
            </a:r>
            <a:r>
              <a:rPr lang="en-US" dirty="0"/>
              <a:t> da se </a:t>
            </a:r>
            <a:r>
              <a:rPr lang="sr-Latn-RS" dirty="0" smtClean="0"/>
              <a:t>pristupa </a:t>
            </a:r>
            <a:r>
              <a:rPr lang="en-US" dirty="0" err="1" smtClean="0"/>
              <a:t>podacima</a:t>
            </a:r>
            <a:r>
              <a:rPr lang="en-US" dirty="0" smtClean="0"/>
              <a:t> </a:t>
            </a:r>
            <a:r>
              <a:rPr lang="en-US" dirty="0" err="1"/>
              <a:t>koji</a:t>
            </a:r>
            <a:r>
              <a:rPr lang="en-US" dirty="0"/>
              <a:t> se </a:t>
            </a:r>
            <a:r>
              <a:rPr lang="en-US" dirty="0" err="1"/>
              <a:t>fizički</a:t>
            </a:r>
            <a:r>
              <a:rPr lang="en-US" dirty="0"/>
              <a:t> </a:t>
            </a:r>
            <a:r>
              <a:rPr lang="en-US" dirty="0" err="1"/>
              <a:t>nalaze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drugoj</a:t>
            </a:r>
            <a:r>
              <a:rPr lang="en-US" dirty="0"/>
              <a:t> SQL Server </a:t>
            </a:r>
            <a:r>
              <a:rPr lang="en-US" dirty="0" smtClean="0"/>
              <a:t>instance</a:t>
            </a:r>
            <a:endParaRPr lang="sr-Latn-RS" dirty="0" smtClean="0"/>
          </a:p>
          <a:p>
            <a:r>
              <a:rPr lang="sr-Latn-RS" dirty="0" smtClean="0"/>
              <a:t>Kreiranje Linked Server veze se može obaviti kroz SSMS ili preko T-SQL skripti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11684" y="1638012"/>
            <a:ext cx="3600144" cy="3506462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132691" y="4637903"/>
            <a:ext cx="3470833" cy="211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104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OPENQUERY i daljinsko izvršavanje upita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73427"/>
            <a:ext cx="9092742" cy="4467935"/>
          </a:xfrm>
        </p:spPr>
        <p:txBody>
          <a:bodyPr/>
          <a:lstStyle/>
          <a:p>
            <a:r>
              <a:rPr lang="sr-Latn-RS" dirty="0"/>
              <a:t>OPENQUERY </a:t>
            </a:r>
            <a:r>
              <a:rPr lang="sr-Latn-RS" dirty="0" smtClean="0"/>
              <a:t>se ističe </a:t>
            </a:r>
            <a:r>
              <a:rPr lang="sr-Latn-RS" dirty="0"/>
              <a:t>kao jedna od najefikasnijih tehnika za daljinsko izvršavanje </a:t>
            </a:r>
            <a:r>
              <a:rPr lang="sr-Latn-RS" dirty="0" smtClean="0"/>
              <a:t>upita</a:t>
            </a:r>
          </a:p>
          <a:p>
            <a:r>
              <a:rPr lang="sr-Latn-RS" dirty="0"/>
              <a:t>T-SQL funkcija koja omogućava prosleđivanje kompletnog upita udaljenom serveru preko već konfigurisane Linked Server </a:t>
            </a:r>
            <a:r>
              <a:rPr lang="sr-Latn-RS" dirty="0" smtClean="0"/>
              <a:t>veze</a:t>
            </a:r>
          </a:p>
          <a:p>
            <a:r>
              <a:rPr lang="sr-Latn-RS" dirty="0" smtClean="0"/>
              <a:t>Lokalni </a:t>
            </a:r>
            <a:r>
              <a:rPr lang="sr-Latn-RS" dirty="0"/>
              <a:t>SQL Server ne pokušava da interpretira ili optimizuje upit, već ga prosleđuje udaljenom sistemu u </a:t>
            </a:r>
            <a:r>
              <a:rPr lang="sr-Latn-RS" dirty="0" smtClean="0"/>
              <a:t>celosti</a:t>
            </a:r>
          </a:p>
          <a:p>
            <a:r>
              <a:rPr lang="sr-Latn-RS" dirty="0" smtClean="0">
                <a:solidFill>
                  <a:schemeClr val="accent1"/>
                </a:solidFill>
              </a:rPr>
              <a:t>Pass-through</a:t>
            </a:r>
            <a:r>
              <a:rPr lang="sr-Latn-RS" dirty="0" smtClean="0"/>
              <a:t> – lokalni server se ponaša kao client, a udaljeni server </a:t>
            </a:r>
            <a:r>
              <a:rPr lang="en-US" dirty="0" err="1"/>
              <a:t>preuzima</a:t>
            </a:r>
            <a:r>
              <a:rPr lang="en-US" dirty="0"/>
              <a:t> </a:t>
            </a:r>
            <a:r>
              <a:rPr lang="en-US" dirty="0" err="1"/>
              <a:t>kompletnu</a:t>
            </a:r>
            <a:r>
              <a:rPr lang="en-US" dirty="0"/>
              <a:t> </a:t>
            </a:r>
            <a:r>
              <a:rPr lang="en-US" dirty="0" err="1"/>
              <a:t>obradu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448434" y="5417667"/>
            <a:ext cx="3541899" cy="124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7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Eksperimentalni deo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840303"/>
            <a:ext cx="3128547" cy="1874961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789288" y="4216485"/>
            <a:ext cx="3016593" cy="932163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4975668" y="2101624"/>
            <a:ext cx="3720414" cy="1352318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6697363" y="1640504"/>
            <a:ext cx="576648" cy="751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17161" y="1270000"/>
            <a:ext cx="1678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 smtClean="0">
                <a:solidFill>
                  <a:schemeClr val="accent1"/>
                </a:solidFill>
              </a:rPr>
              <a:t>Remote server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1" name="Picture 10"/>
          <p:cNvPicPr/>
          <p:nvPr/>
        </p:nvPicPr>
        <p:blipFill>
          <a:blip r:embed="rId5"/>
          <a:stretch>
            <a:fillRect/>
          </a:stretch>
        </p:blipFill>
        <p:spPr>
          <a:xfrm>
            <a:off x="4281658" y="3902032"/>
            <a:ext cx="407352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loud Callout 7"/>
          <p:cNvSpPr/>
          <p:nvPr/>
        </p:nvSpPr>
        <p:spPr>
          <a:xfrm rot="1485453">
            <a:off x="8354757" y="91988"/>
            <a:ext cx="2660822" cy="2356022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Eksperimentalni deo</a:t>
            </a:r>
            <a:endParaRPr lang="en-US" dirty="0"/>
          </a:p>
        </p:txBody>
      </p:sp>
      <p:sp>
        <p:nvSpPr>
          <p:cNvPr id="4" name="Left Arrow Callout 3"/>
          <p:cNvSpPr/>
          <p:nvPr/>
        </p:nvSpPr>
        <p:spPr>
          <a:xfrm>
            <a:off x="6721720" y="3264156"/>
            <a:ext cx="3253946" cy="1473200"/>
          </a:xfrm>
          <a:prstGeom prst="lef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813584" y="609600"/>
            <a:ext cx="19358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400" dirty="0" smtClean="0"/>
              <a:t>Kontrolisani eksperiment koji simulira distribuirani sistem na jednoj fizičkoj mašini</a:t>
            </a:r>
            <a:endParaRPr lang="en-US" sz="1400" dirty="0"/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 rotWithShape="1">
          <a:blip r:embed="rId2"/>
          <a:srcRect b="9858"/>
          <a:stretch/>
        </p:blipFill>
        <p:spPr>
          <a:xfrm>
            <a:off x="1763633" y="1713470"/>
            <a:ext cx="4958087" cy="46269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02394" y="3426764"/>
            <a:ext cx="1579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Izvršavanje upita na lokalnoj instanci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974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6378" y="856735"/>
            <a:ext cx="6392781" cy="5152339"/>
          </a:xfrm>
          <a:prstGeom prst="rect">
            <a:avLst/>
          </a:prstGeom>
        </p:spPr>
      </p:pic>
      <p:sp>
        <p:nvSpPr>
          <p:cNvPr id="5" name="Left Arrow Callout 4"/>
          <p:cNvSpPr/>
          <p:nvPr/>
        </p:nvSpPr>
        <p:spPr>
          <a:xfrm>
            <a:off x="6771147" y="4535874"/>
            <a:ext cx="3253946" cy="1473200"/>
          </a:xfrm>
          <a:prstGeom prst="lef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dirty="0" smtClean="0">
                <a:solidFill>
                  <a:schemeClr val="tx1"/>
                </a:solidFill>
              </a:rPr>
              <a:t>Izvršavanje upita na udaljenoj instanci korišćenjem OPENQUERY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35286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208</TotalTime>
  <Words>238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  Distribuirane baze u MS SQL Server-u putem Linked Servers i OPENQUERY </vt:lpstr>
      <vt:lpstr>Sadržaj</vt:lpstr>
      <vt:lpstr>Distribuirane baze podataka</vt:lpstr>
      <vt:lpstr>Linked Servers u MS SQL Server-u</vt:lpstr>
      <vt:lpstr>OPENQUERY i daljinsko izvršavanje upita</vt:lpstr>
      <vt:lpstr>Eksperimentalni deo</vt:lpstr>
      <vt:lpstr>Eksperimentalni deo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Distribuirane baze u MS SQL Server-u putem Linked Servers i OPENQUERY</dc:title>
  <dc:creator>Windows User</dc:creator>
  <cp:lastModifiedBy>Windows User</cp:lastModifiedBy>
  <cp:revision>7</cp:revision>
  <dcterms:created xsi:type="dcterms:W3CDTF">2026-03-12T20:08:37Z</dcterms:created>
  <dcterms:modified xsi:type="dcterms:W3CDTF">2026-03-12T23:37:07Z</dcterms:modified>
</cp:coreProperties>
</file>